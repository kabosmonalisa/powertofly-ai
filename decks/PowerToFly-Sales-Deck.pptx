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PowerToFly </a:t>
            </a:r>
            <a:pPr indent="0" marL="0">
              <a:buNone/>
            </a:pPr>
            <a:r>
              <a:rPr lang="en-US" sz="17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WORKFORCE PARTNER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AI is only as good as the </a:t>
            </a:r>
            <a:pPr indent="0" marL="0">
              <a:lnSpc>
                <a:spcPct val="1020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people</a:t>
            </a:r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behind it.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active global community of technologists and functional experts — native AI capability, AI fluency, and deep domain expertise.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2148840"/>
            <a:ext cx="3657600" cy="2907792"/>
          </a:xfrm>
          <a:prstGeom prst="roundRect">
            <a:avLst>
              <a:gd name="adj" fmla="val 4403"/>
            </a:avLst>
          </a:prstGeom>
          <a:solidFill>
            <a:srgbClr val="0C1410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28432" y="240487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FE8A9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2350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New match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49640" y="26243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ML Engineer · Fintech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12680" y="240487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 FIT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28432" y="3063240"/>
            <a:ext cx="314553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0632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· Fraud &amp; risk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921240" y="316382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3163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028432" y="3666744"/>
            <a:ext cx="314553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6667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RLHF, fine-tuning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921240" y="376732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19" name="Text 17"/>
          <p:cNvSpPr/>
          <p:nvPr/>
        </p:nvSpPr>
        <p:spPr>
          <a:xfrm>
            <a:off x="9921240" y="3767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28432" y="4270248"/>
            <a:ext cx="3145536" cy="475488"/>
          </a:xfrm>
          <a:prstGeom prst="roundRect">
            <a:avLst>
              <a:gd name="adj" fmla="val 17308"/>
            </a:avLst>
          </a:prstGeom>
          <a:solidFill>
            <a:srgbClr val="12362A"/>
          </a:solidFill>
          <a:ln w="12700">
            <a:solidFill>
              <a:srgbClr val="2F6B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270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expert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21240" y="43708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FE8A9"/>
          </a:solidFill>
          <a:ln/>
        </p:spPr>
      </p:sp>
      <p:sp>
        <p:nvSpPr>
          <p:cNvPr id="23" name="Text 21"/>
          <p:cNvSpPr/>
          <p:nvPr/>
        </p:nvSpPr>
        <p:spPr>
          <a:xfrm>
            <a:off x="9921240" y="4370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 ✓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sales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Trusted by top brands, built on a community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platform can replicate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115K+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AI-skilled professionals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651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2976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 represented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651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6384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or non-binary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BIPOC members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89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 yrs+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29768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trust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43891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&lt;14 days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86384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 to match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representative community, in </a:t>
            </a:r>
            <a:pPr indent="0" marL="0">
              <a:lnSpc>
                <a:spcPct val="103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190 countries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01932" y="301451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" name="Shape 3"/>
          <p:cNvSpPr/>
          <p:nvPr/>
        </p:nvSpPr>
        <p:spPr>
          <a:xfrm>
            <a:off x="1366619" y="306067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" name="Shape 4"/>
          <p:cNvSpPr/>
          <p:nvPr/>
        </p:nvSpPr>
        <p:spPr>
          <a:xfrm>
            <a:off x="3758325" y="264646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" name="Shape 5"/>
          <p:cNvSpPr/>
          <p:nvPr/>
        </p:nvSpPr>
        <p:spPr>
          <a:xfrm>
            <a:off x="3764971" y="371497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" name="Shape 6"/>
          <p:cNvSpPr/>
          <p:nvPr/>
        </p:nvSpPr>
        <p:spPr>
          <a:xfrm>
            <a:off x="2758158" y="272290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" name="Shape 7"/>
          <p:cNvSpPr/>
          <p:nvPr/>
        </p:nvSpPr>
        <p:spPr>
          <a:xfrm>
            <a:off x="2109484" y="298497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" name="Shape 8"/>
          <p:cNvSpPr/>
          <p:nvPr/>
        </p:nvSpPr>
        <p:spPr>
          <a:xfrm>
            <a:off x="3190550" y="370105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" name="Shape 9"/>
          <p:cNvSpPr/>
          <p:nvPr/>
        </p:nvSpPr>
        <p:spPr>
          <a:xfrm>
            <a:off x="4081117" y="269946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2" name="Shape 10"/>
          <p:cNvSpPr/>
          <p:nvPr/>
        </p:nvSpPr>
        <p:spPr>
          <a:xfrm>
            <a:off x="2860943" y="329490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93469" y="331566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2866616" y="333325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3822" y="254756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04848" y="290169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29455" y="359555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689241" y="245744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47647" y="280205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2700754" y="245769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412000" y="336745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852986" y="335963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03473" y="300574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535059" y="287728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27505" y="354574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6" name="Shape 24"/>
          <p:cNvSpPr/>
          <p:nvPr/>
        </p:nvSpPr>
        <p:spPr>
          <a:xfrm>
            <a:off x="2260572" y="2839432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27" name="Shape 25"/>
          <p:cNvSpPr/>
          <p:nvPr/>
        </p:nvSpPr>
        <p:spPr>
          <a:xfrm>
            <a:off x="2297698" y="270144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8" name="Shape 26"/>
          <p:cNvSpPr/>
          <p:nvPr/>
        </p:nvSpPr>
        <p:spPr>
          <a:xfrm>
            <a:off x="2418644" y="370327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29" name="Shape 27"/>
          <p:cNvSpPr/>
          <p:nvPr/>
        </p:nvSpPr>
        <p:spPr>
          <a:xfrm>
            <a:off x="3995011" y="367324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0" name="Shape 28"/>
          <p:cNvSpPr/>
          <p:nvPr/>
        </p:nvSpPr>
        <p:spPr>
          <a:xfrm>
            <a:off x="2951083" y="506531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1" name="Shape 29"/>
          <p:cNvSpPr/>
          <p:nvPr/>
        </p:nvSpPr>
        <p:spPr>
          <a:xfrm>
            <a:off x="3735988" y="466074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2" name="Shape 30"/>
          <p:cNvSpPr/>
          <p:nvPr/>
        </p:nvSpPr>
        <p:spPr>
          <a:xfrm>
            <a:off x="2846609" y="498430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3" name="Shape 31"/>
          <p:cNvSpPr/>
          <p:nvPr/>
        </p:nvSpPr>
        <p:spPr>
          <a:xfrm>
            <a:off x="3376667" y="518255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4" name="Shape 32"/>
          <p:cNvSpPr/>
          <p:nvPr/>
        </p:nvSpPr>
        <p:spPr>
          <a:xfrm>
            <a:off x="3299242" y="4402058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35" name="Shape 33"/>
          <p:cNvSpPr/>
          <p:nvPr/>
        </p:nvSpPr>
        <p:spPr>
          <a:xfrm>
            <a:off x="3147733" y="471545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6" name="Shape 34"/>
          <p:cNvSpPr/>
          <p:nvPr/>
        </p:nvSpPr>
        <p:spPr>
          <a:xfrm>
            <a:off x="3455541" y="526930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7" name="Shape 35"/>
          <p:cNvSpPr/>
          <p:nvPr/>
        </p:nvSpPr>
        <p:spPr>
          <a:xfrm>
            <a:off x="3475906" y="521017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38" name="Shape 36"/>
          <p:cNvSpPr/>
          <p:nvPr/>
        </p:nvSpPr>
        <p:spPr>
          <a:xfrm>
            <a:off x="3742227" y="5147652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39" name="Shape 37"/>
          <p:cNvSpPr/>
          <p:nvPr/>
        </p:nvSpPr>
        <p:spPr>
          <a:xfrm>
            <a:off x="3507745" y="422830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0" name="Shape 38"/>
          <p:cNvSpPr/>
          <p:nvPr/>
        </p:nvSpPr>
        <p:spPr>
          <a:xfrm>
            <a:off x="3305860" y="452476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1" name="Shape 39"/>
          <p:cNvSpPr/>
          <p:nvPr/>
        </p:nvSpPr>
        <p:spPr>
          <a:xfrm>
            <a:off x="3669972" y="518360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2" name="Shape 40"/>
          <p:cNvSpPr/>
          <p:nvPr/>
        </p:nvSpPr>
        <p:spPr>
          <a:xfrm>
            <a:off x="3853320" y="535137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3" name="Shape 41"/>
          <p:cNvSpPr/>
          <p:nvPr/>
        </p:nvSpPr>
        <p:spPr>
          <a:xfrm>
            <a:off x="3109144" y="563768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4" name="Shape 42"/>
          <p:cNvSpPr/>
          <p:nvPr/>
        </p:nvSpPr>
        <p:spPr>
          <a:xfrm>
            <a:off x="6285901" y="314458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5" name="Shape 43"/>
          <p:cNvSpPr/>
          <p:nvPr/>
        </p:nvSpPr>
        <p:spPr>
          <a:xfrm>
            <a:off x="6627283" y="275002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6" name="Shape 44"/>
          <p:cNvSpPr/>
          <p:nvPr/>
        </p:nvSpPr>
        <p:spPr>
          <a:xfrm>
            <a:off x="6231006" y="268841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7" name="Shape 45"/>
          <p:cNvSpPr/>
          <p:nvPr/>
        </p:nvSpPr>
        <p:spPr>
          <a:xfrm>
            <a:off x="5744772" y="337885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8" name="Shape 46"/>
          <p:cNvSpPr/>
          <p:nvPr/>
        </p:nvSpPr>
        <p:spPr>
          <a:xfrm>
            <a:off x="5816279" y="322876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49" name="Shape 47"/>
          <p:cNvSpPr/>
          <p:nvPr/>
        </p:nvSpPr>
        <p:spPr>
          <a:xfrm>
            <a:off x="7093227" y="2657251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50" name="Shape 48"/>
          <p:cNvSpPr/>
          <p:nvPr/>
        </p:nvSpPr>
        <p:spPr>
          <a:xfrm>
            <a:off x="7114357" y="308924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1" name="Shape 49"/>
          <p:cNvSpPr/>
          <p:nvPr/>
        </p:nvSpPr>
        <p:spPr>
          <a:xfrm>
            <a:off x="6527369" y="293217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2" name="Shape 50"/>
          <p:cNvSpPr/>
          <p:nvPr/>
        </p:nvSpPr>
        <p:spPr>
          <a:xfrm>
            <a:off x="5979963" y="260513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3" name="Shape 51"/>
          <p:cNvSpPr/>
          <p:nvPr/>
        </p:nvSpPr>
        <p:spPr>
          <a:xfrm>
            <a:off x="6119838" y="252722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4" name="Shape 52"/>
          <p:cNvSpPr/>
          <p:nvPr/>
        </p:nvSpPr>
        <p:spPr>
          <a:xfrm>
            <a:off x="6040215" y="311754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5" name="Shape 53"/>
          <p:cNvSpPr/>
          <p:nvPr/>
        </p:nvSpPr>
        <p:spPr>
          <a:xfrm>
            <a:off x="6388793" y="278352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6" name="Shape 54"/>
          <p:cNvSpPr/>
          <p:nvPr/>
        </p:nvSpPr>
        <p:spPr>
          <a:xfrm>
            <a:off x="6258794" y="295009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7" name="Shape 55"/>
          <p:cNvSpPr/>
          <p:nvPr/>
        </p:nvSpPr>
        <p:spPr>
          <a:xfrm>
            <a:off x="6297915" y="303050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58" name="Shape 56"/>
          <p:cNvSpPr/>
          <p:nvPr/>
        </p:nvSpPr>
        <p:spPr>
          <a:xfrm>
            <a:off x="7419955" y="5072975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59" name="Shape 57"/>
          <p:cNvSpPr/>
          <p:nvPr/>
        </p:nvSpPr>
        <p:spPr>
          <a:xfrm>
            <a:off x="6538697" y="376512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0" name="Shape 58"/>
          <p:cNvSpPr/>
          <p:nvPr/>
        </p:nvSpPr>
        <p:spPr>
          <a:xfrm>
            <a:off x="6280796" y="426722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1" name="Shape 59"/>
          <p:cNvSpPr/>
          <p:nvPr/>
        </p:nvSpPr>
        <p:spPr>
          <a:xfrm>
            <a:off x="7370154" y="411803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2" name="Shape 60"/>
          <p:cNvSpPr/>
          <p:nvPr/>
        </p:nvSpPr>
        <p:spPr>
          <a:xfrm>
            <a:off x="7055950" y="3965248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63" name="Shape 61"/>
          <p:cNvSpPr/>
          <p:nvPr/>
        </p:nvSpPr>
        <p:spPr>
          <a:xfrm>
            <a:off x="6062084" y="445656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4" name="Shape 62"/>
          <p:cNvSpPr/>
          <p:nvPr/>
        </p:nvSpPr>
        <p:spPr>
          <a:xfrm>
            <a:off x="6849817" y="468519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5" name="Shape 63"/>
          <p:cNvSpPr/>
          <p:nvPr/>
        </p:nvSpPr>
        <p:spPr>
          <a:xfrm>
            <a:off x="6668328" y="374437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6" name="Shape 64"/>
          <p:cNvSpPr/>
          <p:nvPr/>
        </p:nvSpPr>
        <p:spPr>
          <a:xfrm>
            <a:off x="6241518" y="383626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7" name="Shape 65"/>
          <p:cNvSpPr/>
          <p:nvPr/>
        </p:nvSpPr>
        <p:spPr>
          <a:xfrm>
            <a:off x="6293285" y="405410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8" name="Shape 66"/>
          <p:cNvSpPr/>
          <p:nvPr/>
        </p:nvSpPr>
        <p:spPr>
          <a:xfrm>
            <a:off x="5810172" y="504558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69" name="Shape 67"/>
          <p:cNvSpPr/>
          <p:nvPr/>
        </p:nvSpPr>
        <p:spPr>
          <a:xfrm>
            <a:off x="7253436" y="434945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0" name="Shape 68"/>
          <p:cNvSpPr/>
          <p:nvPr/>
        </p:nvSpPr>
        <p:spPr>
          <a:xfrm>
            <a:off x="6134899" y="416787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1" name="Shape 69"/>
          <p:cNvSpPr/>
          <p:nvPr/>
        </p:nvSpPr>
        <p:spPr>
          <a:xfrm>
            <a:off x="6653180" y="359408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2" name="Shape 70"/>
          <p:cNvSpPr/>
          <p:nvPr/>
        </p:nvSpPr>
        <p:spPr>
          <a:xfrm>
            <a:off x="6057459" y="483024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3" name="Shape 71"/>
          <p:cNvSpPr/>
          <p:nvPr/>
        </p:nvSpPr>
        <p:spPr>
          <a:xfrm>
            <a:off x="6808997" y="386063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4" name="Shape 72"/>
          <p:cNvSpPr/>
          <p:nvPr/>
        </p:nvSpPr>
        <p:spPr>
          <a:xfrm>
            <a:off x="6156973" y="4441908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75" name="Shape 73"/>
          <p:cNvSpPr/>
          <p:nvPr/>
        </p:nvSpPr>
        <p:spPr>
          <a:xfrm>
            <a:off x="6562648" y="411280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6" name="Shape 74"/>
          <p:cNvSpPr/>
          <p:nvPr/>
        </p:nvSpPr>
        <p:spPr>
          <a:xfrm>
            <a:off x="9423563" y="3617766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77" name="Shape 75"/>
          <p:cNvSpPr/>
          <p:nvPr/>
        </p:nvSpPr>
        <p:spPr>
          <a:xfrm>
            <a:off x="8548938" y="343532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8" name="Shape 76"/>
          <p:cNvSpPr/>
          <p:nvPr/>
        </p:nvSpPr>
        <p:spPr>
          <a:xfrm>
            <a:off x="10187219" y="279251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79" name="Shape 77"/>
          <p:cNvSpPr/>
          <p:nvPr/>
        </p:nvSpPr>
        <p:spPr>
          <a:xfrm>
            <a:off x="9705447" y="363242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0" name="Shape 78"/>
          <p:cNvSpPr/>
          <p:nvPr/>
        </p:nvSpPr>
        <p:spPr>
          <a:xfrm>
            <a:off x="8322821" y="2411759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81" name="Shape 79"/>
          <p:cNvSpPr/>
          <p:nvPr/>
        </p:nvSpPr>
        <p:spPr>
          <a:xfrm>
            <a:off x="10184622" y="244522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2" name="Shape 80"/>
          <p:cNvSpPr/>
          <p:nvPr/>
        </p:nvSpPr>
        <p:spPr>
          <a:xfrm>
            <a:off x="7731810" y="293270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3" name="Shape 81"/>
          <p:cNvSpPr/>
          <p:nvPr/>
        </p:nvSpPr>
        <p:spPr>
          <a:xfrm>
            <a:off x="8035745" y="307411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4" name="Shape 82"/>
          <p:cNvSpPr/>
          <p:nvPr/>
        </p:nvSpPr>
        <p:spPr>
          <a:xfrm>
            <a:off x="9389546" y="3440953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85" name="Shape 83"/>
          <p:cNvSpPr/>
          <p:nvPr/>
        </p:nvSpPr>
        <p:spPr>
          <a:xfrm>
            <a:off x="10086334" y="323311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6" name="Shape 84"/>
          <p:cNvSpPr/>
          <p:nvPr/>
        </p:nvSpPr>
        <p:spPr>
          <a:xfrm>
            <a:off x="8419228" y="302210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7" name="Shape 85"/>
          <p:cNvSpPr/>
          <p:nvPr/>
        </p:nvSpPr>
        <p:spPr>
          <a:xfrm>
            <a:off x="8533509" y="337941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88" name="Shape 86"/>
          <p:cNvSpPr/>
          <p:nvPr/>
        </p:nvSpPr>
        <p:spPr>
          <a:xfrm>
            <a:off x="8722297" y="3504947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89" name="Shape 87"/>
          <p:cNvSpPr/>
          <p:nvPr/>
        </p:nvSpPr>
        <p:spPr>
          <a:xfrm>
            <a:off x="10204792" y="2598608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90" name="Shape 88"/>
          <p:cNvSpPr/>
          <p:nvPr/>
        </p:nvSpPr>
        <p:spPr>
          <a:xfrm>
            <a:off x="8348033" y="260349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1" name="Shape 89"/>
          <p:cNvSpPr/>
          <p:nvPr/>
        </p:nvSpPr>
        <p:spPr>
          <a:xfrm>
            <a:off x="10223381" y="271950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2" name="Shape 90"/>
          <p:cNvSpPr/>
          <p:nvPr/>
        </p:nvSpPr>
        <p:spPr>
          <a:xfrm>
            <a:off x="8271795" y="351814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3" name="Shape 91"/>
          <p:cNvSpPr/>
          <p:nvPr/>
        </p:nvSpPr>
        <p:spPr>
          <a:xfrm>
            <a:off x="9564637" y="282770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4" name="Shape 92"/>
          <p:cNvSpPr/>
          <p:nvPr/>
        </p:nvSpPr>
        <p:spPr>
          <a:xfrm>
            <a:off x="9468944" y="2591288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5" name="Shape 93"/>
          <p:cNvSpPr/>
          <p:nvPr/>
        </p:nvSpPr>
        <p:spPr>
          <a:xfrm>
            <a:off x="9203919" y="338039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6" name="Shape 94"/>
          <p:cNvSpPr/>
          <p:nvPr/>
        </p:nvSpPr>
        <p:spPr>
          <a:xfrm>
            <a:off x="9988760" y="302333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7" name="Shape 95"/>
          <p:cNvSpPr/>
          <p:nvPr/>
        </p:nvSpPr>
        <p:spPr>
          <a:xfrm>
            <a:off x="10116588" y="3463196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8" name="Shape 96"/>
          <p:cNvSpPr/>
          <p:nvPr/>
        </p:nvSpPr>
        <p:spPr>
          <a:xfrm>
            <a:off x="7880522" y="2528282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99" name="Shape 97"/>
          <p:cNvSpPr/>
          <p:nvPr/>
        </p:nvSpPr>
        <p:spPr>
          <a:xfrm>
            <a:off x="7425844" y="353329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0" name="Shape 98"/>
          <p:cNvSpPr/>
          <p:nvPr/>
        </p:nvSpPr>
        <p:spPr>
          <a:xfrm>
            <a:off x="9971752" y="293492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1" name="Shape 99"/>
          <p:cNvSpPr/>
          <p:nvPr/>
        </p:nvSpPr>
        <p:spPr>
          <a:xfrm>
            <a:off x="7959206" y="267629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459567" y="3328876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765955" y="272098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171490" y="279572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969291" y="275298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230719" y="316427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7" name="Shape 105"/>
          <p:cNvSpPr/>
          <p:nvPr/>
        </p:nvSpPr>
        <p:spPr>
          <a:xfrm>
            <a:off x="9396733" y="3229481"/>
            <a:ext cx="82296" cy="82296"/>
          </a:xfrm>
          <a:prstGeom prst="ellipse">
            <a:avLst/>
          </a:prstGeom>
          <a:solidFill>
            <a:srgbClr val="4FE8A9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443085" y="4974207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263875" y="4860591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313053" y="4745705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897200" y="4858150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511615" y="4877884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651598" y="4484869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623730" y="5004983"/>
            <a:ext cx="82296" cy="82296"/>
          </a:xfrm>
          <a:prstGeom prst="ellipse">
            <a:avLst/>
          </a:prstGeom>
          <a:solidFill>
            <a:srgbClr val="3A4A44"/>
          </a:solidFill>
          <a:ln/>
        </p:spPr>
      </p:sp>
      <p:sp>
        <p:nvSpPr>
          <p:cNvPr id="115" name="Text 113"/>
          <p:cNvSpPr/>
          <p:nvPr/>
        </p:nvSpPr>
        <p:spPr>
          <a:xfrm>
            <a:off x="859536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400M+</a:t>
            </a:r>
            <a:endParaRPr lang="en-US" sz="2600" dirty="0"/>
          </a:p>
        </p:txBody>
      </p:sp>
      <p:sp>
        <p:nvSpPr>
          <p:cNvPr id="116" name="Text 114"/>
          <p:cNvSpPr/>
          <p:nvPr/>
        </p:nvSpPr>
        <p:spPr>
          <a:xfrm>
            <a:off x="859536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across networks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103327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80%</a:t>
            </a:r>
            <a:endParaRPr lang="en-US" sz="2600" dirty="0"/>
          </a:p>
        </p:txBody>
      </p:sp>
      <p:sp>
        <p:nvSpPr>
          <p:cNvPr id="118" name="Text 116"/>
          <p:cNvSpPr/>
          <p:nvPr/>
        </p:nvSpPr>
        <p:spPr>
          <a:xfrm>
            <a:off x="10332720" y="3154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or non-binary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859536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70%</a:t>
            </a:r>
            <a:endParaRPr lang="en-US" sz="2600" dirty="0"/>
          </a:p>
        </p:txBody>
      </p:sp>
      <p:sp>
        <p:nvSpPr>
          <p:cNvPr id="120" name="Text 118"/>
          <p:cNvSpPr/>
          <p:nvPr/>
        </p:nvSpPr>
        <p:spPr>
          <a:xfrm>
            <a:off x="8595360" y="4617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BIPOC members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1033272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27%</a:t>
            </a:r>
            <a:endParaRPr lang="en-US" sz="2600" dirty="0"/>
          </a:p>
        </p:txBody>
      </p:sp>
      <p:sp>
        <p:nvSpPr>
          <p:cNvPr id="122" name="Text 120"/>
          <p:cNvSpPr/>
          <p:nvPr/>
        </p:nvSpPr>
        <p:spPr>
          <a:xfrm>
            <a:off x="10332720" y="4617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 a graduate degree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profile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initiatives stall without the right </a:t>
            </a:r>
            <a:pPr indent="0" marL="0">
              <a:lnSpc>
                <a:spcPct val="103000"/>
              </a:lnSpc>
              <a:buNone/>
            </a:pPr>
            <a:r>
              <a:rPr lang="en-US" sz="32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talent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5915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Supply gap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8529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Demand has outrun supply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18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market is short on AI-native engineers, ML specialists, and domain experts.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235915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24688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45+ days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80760" y="28529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Roles stay open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321868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Slipped roadmaps and lost ground while competitors ship and you're still interviewing.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4223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51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 model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46360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One hiring model isn't enough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00176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need full-time, fractional, and model-training talent — often at once.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4142232"/>
            <a:ext cx="48920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2519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78%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080760" y="463600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Homogeneous teams create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500176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AI researchers are male; the bias in who builds your models ships to production.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TALENT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AI-native, AI-fluent, and functional </a:t>
            </a:r>
            <a:pPr indent="0" marL="0">
              <a:lnSpc>
                <a:spcPct val="103000"/>
              </a:lnSpc>
              <a:buNone/>
            </a:pPr>
            <a:r>
              <a:rPr lang="en-US" sz="26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domain experts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45720" cy="868680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Native AI capability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670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Fine-tuning, RLHF, red-teaming, and evaluation.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45720" cy="868680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29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fluency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813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woven into daily work, judged critically.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45720" cy="868680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Deep domain expertise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956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 from your sector first — finance, healthcare, legal.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2240280"/>
            <a:ext cx="4114800" cy="2907792"/>
          </a:xfrm>
          <a:prstGeom prst="roundRect">
            <a:avLst>
              <a:gd name="adj" fmla="val 4403"/>
            </a:avLst>
          </a:prstGeom>
          <a:solidFill>
            <a:srgbClr val="0C1410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71232" y="24963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FE8A9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2441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Engineer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92440" y="2715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yrs · Healthcare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12680" y="249631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571232" y="3154680"/>
            <a:ext cx="360273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31546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· Fine-tuning, RLHF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1240" y="325526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32552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71232" y="3758184"/>
            <a:ext cx="360273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75818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Fluent · Daily AI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385876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858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71232" y="4361688"/>
            <a:ext cx="3602736" cy="475488"/>
          </a:xfrm>
          <a:prstGeom prst="roundRect">
            <a:avLst>
              <a:gd name="adj" fmla="val 17308"/>
            </a:avLst>
          </a:prstGeom>
          <a:solidFill>
            <a:srgbClr val="12362A"/>
          </a:solidFill>
          <a:ln w="12700">
            <a:solidFill>
              <a:srgbClr val="2F6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3616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· Clinical NLP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21240" y="44622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FE8A9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462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yrs ✓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Choose one, or combine all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1206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3120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search &amp; staff augmentation to stand up an AI team.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51206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3520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or fractional — verified AI and domain talent.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480560"/>
            <a:ext cx="51206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572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45720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teams to label, evaluate, and red-team your models.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2331720"/>
            <a:ext cx="4480560" cy="2907792"/>
          </a:xfrm>
          <a:prstGeom prst="roundRect">
            <a:avLst>
              <a:gd name="adj" fmla="val 4403"/>
            </a:avLst>
          </a:prstGeom>
          <a:solidFill>
            <a:srgbClr val="0C1410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05472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FE8A9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2532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Your AI workforce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26680" y="2807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engagements active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12680" y="25877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05472" y="3246120"/>
            <a:ext cx="396849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2461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· Senior ML Engineer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1240" y="334670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3346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05472" y="3849624"/>
            <a:ext cx="396849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849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· RLHF evaluation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39502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05472" y="4453128"/>
            <a:ext cx="3968496" cy="475488"/>
          </a:xfrm>
          <a:prstGeom prst="roundRect">
            <a:avLst>
              <a:gd name="adj" fmla="val 17308"/>
            </a:avLst>
          </a:prstGeom>
          <a:solidFill>
            <a:srgbClr val="12362A"/>
          </a:solidFill>
          <a:ln w="12700">
            <a:solidFill>
              <a:srgbClr val="2F6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44531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· Custom AI pod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21240" y="45537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FE8A9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553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 ✓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hybrid AI talent strategy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 ways to scale your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Hire AI talent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professionals — direct placement or fractional.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engineers, data &amp; research scientists</a:t>
            </a:r>
            <a:endParaRPr lang="en-US" sz="1250" dirty="0"/>
          </a:p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PMs &amp; solutions engineers</a:t>
            </a:r>
            <a:endParaRPr lang="en-US" sz="1250" dirty="0"/>
          </a:p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RLHF, MLOps, AI safety &amp; cyber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1663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acquisition services</a:t>
            </a:r>
            <a:endParaRPr lang="en-US" sz="1250" dirty="0"/>
          </a:p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Recruiting &amp; networking events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8076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 your models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08076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teams to train, evaluate, and red-team.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80760" y="3749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evaluators &amp; annotation specialists</a:t>
            </a:r>
            <a:endParaRPr lang="en-US" sz="1250" dirty="0"/>
          </a:p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RLHF &amp; model evaluation</a:t>
            </a:r>
            <a:endParaRPr lang="en-US" sz="1250" dirty="0"/>
          </a:p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Red-teaming &amp; AI safety reviewers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8076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51663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500"/>
              </a:spcAft>
              <a:buSzPct val="100000"/>
              <a:buChar char="✓"/>
            </a:pPr>
            <a:r>
              <a:rPr lang="en-US" sz="12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Contract, contract-to-hire, or project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VERTICALS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know your industry, not just your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job titles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Financial services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Quant, risk, compliance, fraud detection, trading.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 engineering, applied research, MLOps.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annotation, regulatory &amp; safety review.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Legal &amp; compliance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reviewers, policy, red-team specialists.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Media &amp; consumer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49560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Content, multilingual &amp; cultural reviewers.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638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Manufacturing &amp; more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49560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evaluators across regulated industries.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POWERTOFLY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one else is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built like this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community you can't replicate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years of real relationships — a network, not a database.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Verified domain expertise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 on real experience, not keywords.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Global, locally compliant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321868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190 countries — compliance handled.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Flexible, transparent pricing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9560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Full-time, fractional, or training pods.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Intersectionality as an edge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49560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talent competitors miss.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63840" y="4206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4480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Mid-to-senior only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49560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Fewer, better — ready day one.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verified</a:t>
            </a:r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to trusted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identity and core profile confirmed.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0614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0614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Vetted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0614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and experience validated against the role.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8076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Qualified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Assessed for genuine fit to your need.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5538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5538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Trusted expert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538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track record your team can rely 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PowerToFly expert moves through this progression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 brief to first match in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under 14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Tell us what you need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role, the context, and success.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0614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0614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surface experts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0614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Pre-vetted people who know your industry.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8076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You interview a shortlist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076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fits, not a stack of résumés.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55380" y="274320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55380" y="342900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Hire or engage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5380" y="397764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Full-time, fractional, or to train models.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When they're interviewing, you're in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Accelerate delivery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experts contribute from day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6140" y="283464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61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06140" y="347472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Improve AI 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06140" y="402336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experts produce better models and evals.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83464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347472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Scale efficiently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402336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verified bench that scales with your roadmap.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55380" y="2834640"/>
            <a:ext cx="457200" cy="457200"/>
          </a:xfrm>
          <a:prstGeom prst="ellipse">
            <a:avLst/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53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55380" y="3474720"/>
            <a:ext cx="23545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Reduce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55380" y="4023360"/>
            <a:ext cx="23545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fit before you commit.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SETS US APART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expertise. Representative talent. End-to-end hiring.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503170" cy="374904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37744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MARKETPLACES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Toptal · Scale · Andela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technical vetting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89534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Homogeneous pool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49884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Premium-only pricing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5102352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hiring support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63290" y="2194560"/>
            <a:ext cx="2503170" cy="374904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7882" y="237744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 COMMUNITIES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27882" y="2651760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Handshake · Fairygodboss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27882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20490" y="329184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Engaged communities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27882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20490" y="389534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AI specialization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27882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20490" y="449884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vetting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27882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20490" y="5102352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hiring services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95060" y="2194560"/>
            <a:ext cx="2503170" cy="374904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9652" y="237744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STAFFING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9652" y="2651760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Robert Half · TEKsystems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9652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52260" y="329184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Recruiting &amp; placement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9652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52260" y="389534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Generalist pool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9652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52260" y="449884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AI specialization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59652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B4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52260" y="5102352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community access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926830" y="2194560"/>
            <a:ext cx="2503170" cy="3749040"/>
          </a:xfrm>
          <a:prstGeom prst="roundRect">
            <a:avLst>
              <a:gd name="adj" fmla="val 3653"/>
            </a:avLst>
          </a:prstGeom>
          <a:solidFill>
            <a:srgbClr val="F0FAF6"/>
          </a:solidFill>
          <a:ln w="12700">
            <a:solidFill>
              <a:srgbClr val="0A8C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1422" y="2377440"/>
            <a:ext cx="21739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091422" y="2651760"/>
            <a:ext cx="21739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+ domain · 190 countries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91422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84030" y="3291840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domain expertise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91422" y="3895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84030" y="3895344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community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091422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384030" y="4498848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pricing &amp; hiring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091422" y="5102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84030" y="5102352"/>
            <a:ext cx="189966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placement support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Events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and onsite events that put your team in front of curated, engaged talent.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MULTI-SPONSOR VIRTUAL JOB FAIR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We bring the right people into the room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500–1,000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AI-skilled professionals per event — main stage + breakout rooms, hosted on Zoom with full recording.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0" y="274320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across all event marketing, registration &amp; emails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Post-event report — applications, attendees, conversion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candidate list — 500–1,000 warm registrants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reach — post-event engagement campaigns &amp; video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EVENTS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"Try before you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apply</a:t>
            </a:r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1206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Brand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94560" y="2468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your own team and build authentic brand credibility.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51206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34747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active seekers and passive candidates into applicants.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5120640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Quality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44805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Strategically sourced, engaged talent — better conversations.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2331720"/>
            <a:ext cx="4480560" cy="2907792"/>
          </a:xfrm>
          <a:prstGeom prst="roundRect">
            <a:avLst>
              <a:gd name="adj" fmla="val 4403"/>
            </a:avLst>
          </a:prstGeom>
          <a:solidFill>
            <a:srgbClr val="0C1410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05472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4FE8A9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2532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Empower Her · Job Fair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26680" y="2807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9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· main stage + breakouts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12680" y="258775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</a:t>
            </a:r>
            <a:pPr algn="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05472" y="3246120"/>
            <a:ext cx="396849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2461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921240" y="3346704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33467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05472" y="3849624"/>
            <a:ext cx="3968496" cy="475488"/>
          </a:xfrm>
          <a:prstGeom prst="roundRect">
            <a:avLst>
              <a:gd name="adj" fmla="val 17308"/>
            </a:avLst>
          </a:prstGeom>
          <a:solidFill>
            <a:srgbClr val="12362A"/>
          </a:solidFill>
          <a:ln w="12700">
            <a:solidFill>
              <a:srgbClr val="2F6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84962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stage · Live now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39502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FE8A9"/>
          </a:solidFill>
          <a:ln/>
        </p:spPr>
      </p:sp>
      <p:sp>
        <p:nvSpPr>
          <p:cNvPr id="25" name="Text 23"/>
          <p:cNvSpPr/>
          <p:nvPr/>
        </p:nvSpPr>
        <p:spPr>
          <a:xfrm>
            <a:off x="992124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3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05472" y="4453128"/>
            <a:ext cx="3968496" cy="475488"/>
          </a:xfrm>
          <a:prstGeom prst="roundRect">
            <a:avLst>
              <a:gd name="adj" fmla="val 17308"/>
            </a:avLst>
          </a:prstGeom>
          <a:solidFill>
            <a:srgbClr val="151F1A"/>
          </a:solidFill>
          <a:ln w="12700">
            <a:solidFill>
              <a:srgbClr val="0C14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44531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Breakout · AI &amp;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921240" y="45537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0302A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4553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6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66% of job seekers trust employees most on inclusion — Glassdoor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Events that convert to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sponsored event moves talent from awareness all the way to hire — with the numbers to prove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443484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Top-of-funnel reach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71216" y="36576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50–200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871216" y="443484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RSVPs per event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10912" y="36576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10912" y="443484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attendance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50608" y="36576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55%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150608" y="443484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in interest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90304" y="3657600"/>
            <a:ext cx="19568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E8A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3–5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290304" y="4434840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Hires per event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Best-practice benchmarks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EMPLOYER BRAND VIDEOS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Show candidates the </a:t>
            </a:r>
            <a:pPr indent="0" marL="0">
              <a:lnSpc>
                <a:spcPct val="103000"/>
              </a:lnSpc>
              <a:buNone/>
            </a:pPr>
            <a:r>
              <a:rPr lang="en-US" sz="3000" b="1" i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team</a:t>
            </a:r>
            <a:pPr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behind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5074920" cy="1828800"/>
          </a:xfrm>
          <a:prstGeom prst="roundRect">
            <a:avLst>
              <a:gd name="adj" fmla="val 7000"/>
            </a:avLst>
          </a:prstGeom>
          <a:solidFill>
            <a:srgbClr val="0A0A0A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3104388" y="3291840"/>
            <a:ext cx="329184" cy="36576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26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Inside the Team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PowerToFly-produced video capturing the day-to-day work life of a professional on your team — shared in event invites and post-event campaigns.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560320"/>
            <a:ext cx="5074920" cy="1828800"/>
          </a:xfrm>
          <a:prstGeom prst="roundRect">
            <a:avLst>
              <a:gd name="adj" fmla="val 7000"/>
            </a:avLst>
          </a:prstGeom>
          <a:solidFill>
            <a:srgbClr val="0A0A0A"/>
          </a:solidFill>
          <a:ln/>
        </p:spPr>
      </p:sp>
      <p:sp>
        <p:nvSpPr>
          <p:cNvPr id="9" name="Shape 7"/>
          <p:cNvSpPr/>
          <p:nvPr/>
        </p:nvSpPr>
        <p:spPr>
          <a:xfrm rot="5400000">
            <a:off x="8636508" y="3291840"/>
            <a:ext cx="329184" cy="36576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4526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Meet the Recruiter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263640" y="5029200"/>
            <a:ext cx="5074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Highlights a member of your talent team and demystifies your process — building rapport with candidates and lifting conversion to hire.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Case studies &amp; testimonials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real engagements across industries and roles.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Results that speak for themselves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Zapier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552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Engineers · Data Scientists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2316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hires placed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4315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 wk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2316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 to hire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87552" y="4974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91%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2316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at 1 yr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Moody's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45152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Analysts · Prompt Engineers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5152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8076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specialists placed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5152" y="4315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8076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verticals in parallel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45152" y="4974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 wk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8076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first hire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Deloitte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02752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PMs · LLM Engineers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02752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3836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screened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02752" y="4315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38360" y="4315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hires, 3 practices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02752" y="4974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 wk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38360" y="497433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 — replace with verified client results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PEOPLE WHO HIRED WITH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Trusted by talent teams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468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274320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"Exceptional talent around the world, and their events expanded our reach to representative talent."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Kimberly W.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Head of Talent Attraction, Zapier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468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73952" y="274320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team goes above and beyond. I can trust the quality of delivery and that I'll have their support."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Mayra M.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Global TA Lead, RebelMouse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457200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"Solid support — not just hiring but keeping candidates warm. They work like they're part of your org."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5349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Navjyot K.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Global Talent Lead, SoftwareOne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4572000"/>
            <a:ext cx="4700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"Fantastic hires from our partnership. Candidate reach and benchmarking are why we partner with PTF."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5349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Roberta S.</a:t>
            </a:r>
            <a:pPr indent="0" marL="0">
              <a:buNone/>
            </a:pPr>
            <a:r>
              <a:rPr lang="en-US" sz="10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Global TA Lead, Collins Aerospace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BY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Teams building AI with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517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6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Zapier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0" y="26517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26517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6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Moody's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46720" y="26517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6517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6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Deloitte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2976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97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6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RebelMouse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42976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297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6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SoftwareOne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429768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AFAF6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297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F6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Collins Aerospace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Pricing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pricing models for talent acquisition services and events.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 engagement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RECRUITER-AS-A-SERVICE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7552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Dedicated capacity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placement fees. 3-month min.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383133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886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partner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1800" y="38862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$15k/mo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7552" y="433425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Part-time partner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71800" y="43891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$7k/mo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5394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Sourcing · screening · delivery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RETAINED SEARCH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Strategic permanent hires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4515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first-year compensation.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5152" y="383133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3886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(Dir &amp; above)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29400" y="38862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30%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45152" y="433425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Sr. Manager &amp; below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43891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45152" y="5394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⅓ start · ⅓ shortlist · balance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046720" y="24688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TO HIRE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02752" y="2971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Flexible expertise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0275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Rates vary by role &amp; location.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02752" y="383133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886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trainers &amp; evaluators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87000" y="388620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$50+/hr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02752" y="433425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4389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&amp; domain experts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287000" y="438912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$100+/hr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02752" y="4837176"/>
            <a:ext cx="2871216" cy="0"/>
          </a:xfrm>
          <a:prstGeom prst="line">
            <a:avLst/>
          </a:prstGeom>
          <a:noFill/>
          <a:ln w="12700">
            <a:solidFill>
              <a:srgbClr val="E6E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4892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Fractional leaders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87000" y="4892040"/>
            <a:ext cx="886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8C6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$200+/hr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SERVICES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Event &amp; campaign pricing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503170" cy="320040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70048"/>
            <a:ext cx="21374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 + HIRING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137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$12k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13741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Multi-sponsor virtual job fair — live 2-hour event, main stage &amp; breakouts.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63290" y="2468880"/>
            <a:ext cx="2503170" cy="320040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6170" y="2670048"/>
            <a:ext cx="21374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EVENT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46170" y="2926080"/>
            <a:ext cx="2137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$15k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46170" y="3611880"/>
            <a:ext cx="213741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— your own event with a curated, engaged audience.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5060" y="2468880"/>
            <a:ext cx="2503170" cy="320040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670048"/>
            <a:ext cx="21374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EVENT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77940" y="2926080"/>
            <a:ext cx="2137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$25k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77940" y="3611880"/>
            <a:ext cx="213741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— full production, promotion, and post-event reporting.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26830" y="2468880"/>
            <a:ext cx="2503170" cy="3200400"/>
          </a:xfrm>
          <a:prstGeom prst="roundRect">
            <a:avLst>
              <a:gd name="adj" fmla="val 3653"/>
            </a:avLst>
          </a:prstGeom>
          <a:solidFill>
            <a:srgbClr val="FFFFFF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9710" y="2670048"/>
            <a:ext cx="21374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A8C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09710" y="2926080"/>
            <a:ext cx="2137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$20k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09710" y="3611880"/>
            <a:ext cx="213741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Campaigns — sustained brand + pipeline engagement over time.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F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Let's build your AI team </a:t>
            </a:r>
            <a:pPr indent="0" marL="0">
              <a:lnSpc>
                <a:spcPct val="103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914400" cy="914400"/>
          </a:xfrm>
          <a:prstGeom prst="ellipse">
            <a:avLst/>
          </a:prstGeom>
          <a:solidFill>
            <a:srgbClr val="14201B"/>
          </a:solidFill>
          <a:ln w="12700">
            <a:solidFill>
              <a:srgbClr val="3A4A4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69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74520" y="3154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Cristina Duke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36118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Sales &amp; Customer Success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38587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cristina@powertofly.com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3108960"/>
            <a:ext cx="914400" cy="914400"/>
          </a:xfrm>
          <a:prstGeom prst="ellipse">
            <a:avLst/>
          </a:prstGeom>
          <a:solidFill>
            <a:srgbClr val="14201B"/>
          </a:solidFill>
          <a:ln w="12700">
            <a:solidFill>
              <a:srgbClr val="3A4A44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08076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691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3154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Sabrina Fernandez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36118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Success Manager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38587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sabrina@powertofly.com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61520" cy="82296"/>
          </a:xfrm>
          <a:prstGeom prst="rect">
            <a:avLst/>
          </a:prstGeom>
          <a:solidFill>
            <a:srgbClr val="4FE8A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031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60" kern="0" dirty="0">
                <a:solidFill>
                  <a:srgbClr val="4FE8A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WHEN YOU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Built on a decade of real relationships.</a:t>
            </a:r>
            <a:endParaRPr lang="en-US" sz="3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Ready for whatever you're </a:t>
            </a:r>
            <a:endParaRPr lang="en-US" sz="3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building</a:t>
            </a:r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709160" y="448056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4480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the conversation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437376"/>
            <a:ext cx="77029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34426" y="6437376"/>
            <a:ext cx="29955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powertofly.com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PowerToFly AI — Sales deck</dc:title>
  <dc:subject>PptxGenJS Presentation</dc:subject>
  <dc:creator>PowerToFly AI</dc:creator>
  <cp:lastModifiedBy>PowerToFly AI</cp:lastModifiedBy>
  <cp:revision>1</cp:revision>
  <dcterms:created xsi:type="dcterms:W3CDTF">2026-08-13T16:20:45Z</dcterms:created>
  <dcterms:modified xsi:type="dcterms:W3CDTF">2026-08-13T16:20:45Z</dcterms:modified>
</cp:coreProperties>
</file>