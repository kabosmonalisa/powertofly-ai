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0959"/>
          </a:xfrm>
          <a:prstGeom prst="rect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92478" y="682750"/>
            <a:ext cx="365759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32" b="1" i="0" spc="-32">
                <a:solidFill>
                  <a:srgbClr val="FFFFFF"/>
                </a:solidFill>
                <a:latin typeface="Inter Tight"/>
              </a:rPr>
              <a:t>PowerToFly </a:t>
            </a:r>
            <a:r>
              <a:rPr sz="1632" b="1" i="0" spc="-32">
                <a:solidFill>
                  <a:srgbClr val="4FE8A9"/>
                </a:solidFill>
                <a:latin typeface="Inter Tight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2263134"/>
            <a:ext cx="6324584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4FE8A9"/>
                </a:solidFill>
                <a:latin typeface="Inter"/>
              </a:rPr>
              <a:t>YOUR AI WORKFORCE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2628893"/>
            <a:ext cx="6324584" cy="190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</a:pPr>
            <a:r>
              <a:rPr sz="4416" b="1" i="0" spc="-132">
                <a:solidFill>
                  <a:srgbClr val="FFFFFF"/>
                </a:solidFill>
                <a:latin typeface="Inter Tight"/>
              </a:rPr>
              <a:t>Your AI is only as good as the </a:t>
            </a:r>
            <a:r>
              <a:rPr sz="4416" b="1" i="1" spc="-132">
                <a:solidFill>
                  <a:srgbClr val="FFFFFF"/>
                </a:solidFill>
                <a:latin typeface="Inter Tight"/>
              </a:rPr>
              <a:t>people</a:t>
            </a:r>
            <a:r>
              <a:rPr sz="4416" b="1" i="0" spc="-132">
                <a:solidFill>
                  <a:srgbClr val="FFFFFF"/>
                </a:solidFill>
                <a:latin typeface="Inter Tight"/>
              </a:rPr>
              <a:t> behind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4423551"/>
            <a:ext cx="6324584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680" b="0" i="0">
                <a:solidFill>
                  <a:srgbClr val="CFCFCF"/>
                </a:solidFill>
                <a:latin typeface="Inter"/>
              </a:rPr>
              <a:t>PowerToFly connects organizations with an active global community of technologists and functional experts — native AI capability, AI fluency, and deep domain expertise.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04740" y="2182362"/>
            <a:ext cx="3794750" cy="2493257"/>
          </a:xfrm>
          <a:prstGeom prst="roundRect">
            <a:avLst>
              <a:gd name="adj" fmla="val 8801"/>
            </a:avLst>
          </a:prstGeom>
          <a:solidFill>
            <a:srgbClr val="0C1410"/>
          </a:solidFill>
          <a:ln w="12700">
            <a:solidFill>
              <a:srgbClr val="1A2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836388" y="2414009"/>
            <a:ext cx="353567" cy="353567"/>
          </a:xfrm>
          <a:prstGeom prst="roundRect">
            <a:avLst>
              <a:gd name="adj" fmla="val 29310"/>
            </a:avLst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11875" y="2414009"/>
            <a:ext cx="2331714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2" b="1" i="0">
                <a:solidFill>
                  <a:srgbClr val="FFFFFF"/>
                </a:solidFill>
                <a:latin typeface="Inter Tight"/>
              </a:rPr>
              <a:t>New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1875" y="2596889"/>
            <a:ext cx="2331714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0" i="0">
                <a:solidFill>
                  <a:srgbClr val="666666"/>
                </a:solidFill>
                <a:latin typeface="Inter"/>
              </a:rPr>
              <a:t>Senior ML Engineer · Fintech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388" y="2414009"/>
            <a:ext cx="3331455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64" b="0" i="0" spc="86">
                <a:solidFill>
                  <a:srgbClr val="808080"/>
                </a:solidFill>
                <a:latin typeface="Inter"/>
              </a:rPr>
              <a:t>98% 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6388" y="2926072"/>
            <a:ext cx="3331455" cy="414526"/>
          </a:xfrm>
          <a:prstGeom prst="roundRect">
            <a:avLst>
              <a:gd name="adj" fmla="val 32352"/>
            </a:avLst>
          </a:prstGeom>
          <a:solidFill>
            <a:srgbClr val="14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94884" y="2926072"/>
            <a:ext cx="3014464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4" b="0" i="0">
                <a:solidFill>
                  <a:srgbClr val="CFCFCF"/>
                </a:solidFill>
                <a:latin typeface="Inter"/>
              </a:rPr>
              <a:t>Domain · Fraud &amp;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4884" y="2926072"/>
            <a:ext cx="3014464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83" b="0" i="0">
                <a:solidFill>
                  <a:srgbClr val="858585"/>
                </a:solidFill>
                <a:latin typeface="Inter"/>
              </a:rPr>
              <a:t>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36388" y="3432039"/>
            <a:ext cx="3331455" cy="414526"/>
          </a:xfrm>
          <a:prstGeom prst="roundRect">
            <a:avLst>
              <a:gd name="adj" fmla="val 32352"/>
            </a:avLst>
          </a:prstGeom>
          <a:solidFill>
            <a:srgbClr val="14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94884" y="3432039"/>
            <a:ext cx="3014464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4" b="0" i="0">
                <a:solidFill>
                  <a:srgbClr val="CFCFCF"/>
                </a:solidFill>
                <a:latin typeface="Inter"/>
              </a:rPr>
              <a:t>AI · RLHF, fine-tuning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4884" y="3432039"/>
            <a:ext cx="3014464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83" b="0" i="0">
                <a:solidFill>
                  <a:srgbClr val="858585"/>
                </a:solidFill>
                <a:latin typeface="Inter"/>
              </a:rPr>
              <a:t>Verified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36388" y="3938006"/>
            <a:ext cx="3331455" cy="414526"/>
          </a:xfrm>
          <a:prstGeom prst="roundRect">
            <a:avLst>
              <a:gd name="adj" fmla="val 32352"/>
            </a:avLst>
          </a:prstGeom>
          <a:solidFill>
            <a:srgbClr val="112C22"/>
          </a:solidFill>
          <a:ln w="12700">
            <a:solidFill>
              <a:srgbClr val="4FE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994884" y="3938006"/>
            <a:ext cx="3014464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4" b="0" i="0">
                <a:solidFill>
                  <a:srgbClr val="FFFFFF"/>
                </a:solidFill>
                <a:latin typeface="Inter"/>
              </a:rPr>
              <a:t>Trusted expert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4884" y="3938006"/>
            <a:ext cx="3014464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83" b="1" i="0">
                <a:solidFill>
                  <a:srgbClr val="4FE8A9"/>
                </a:solidFill>
                <a:latin typeface="Inter"/>
              </a:rPr>
              <a:t>Shortlist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858585"/>
                </a:solidFill>
                <a:latin typeface="Inter"/>
              </a:rPr>
              <a:t>GTM sales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858585"/>
                </a:solidFill>
                <a:latin typeface="Inter"/>
              </a:rPr>
              <a:t>powertofly.com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ABOUT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87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64" b="1" i="0" spc="-97">
                <a:solidFill>
                  <a:srgbClr val="0A0A0A"/>
                </a:solidFill>
                <a:latin typeface="Inter Tight"/>
              </a:rPr>
              <a:t>Trusted by top brands, built on a community </a:t>
            </a:r>
            <a:r>
              <a:rPr sz="3264" b="1" i="1" spc="-97">
                <a:solidFill>
                  <a:srgbClr val="0A0A0A"/>
                </a:solidFill>
                <a:latin typeface="Inter Tight"/>
              </a:rPr>
              <a:t>no platform can replicate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2280264"/>
            <a:ext cx="329183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992" b="1" i="0" spc="-99">
                <a:solidFill>
                  <a:srgbClr val="0A8C66"/>
                </a:solidFill>
                <a:latin typeface="Inter Tight"/>
              </a:rPr>
              <a:t>1.1M+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938630"/>
            <a:ext cx="32918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Active community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0068" y="2280264"/>
            <a:ext cx="329183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992" b="1" i="0" spc="-99">
                <a:solidFill>
                  <a:srgbClr val="0A8C66"/>
                </a:solidFill>
                <a:latin typeface="Inter Tight"/>
              </a:rPr>
              <a:t>80K+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68" y="2938630"/>
            <a:ext cx="32918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Validated domain &amp; functional experts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7659" y="2280264"/>
            <a:ext cx="329183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992" b="1" i="0" spc="-99">
                <a:solidFill>
                  <a:srgbClr val="0A8C66"/>
                </a:solidFill>
                <a:latin typeface="Inter Tight"/>
              </a:rPr>
              <a:t>190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7659" y="2938630"/>
            <a:ext cx="32918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Countries represented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8" y="3377541"/>
            <a:ext cx="329183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992" b="1" i="0" spc="-99">
                <a:solidFill>
                  <a:srgbClr val="0A8C66"/>
                </a:solidFill>
                <a:latin typeface="Inter Tight"/>
              </a:rPr>
              <a:t>75%+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8" y="4035907"/>
            <a:ext cx="32918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Women &amp; BIPOC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0068" y="3377541"/>
            <a:ext cx="329183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992" b="1" i="0" spc="-99">
                <a:solidFill>
                  <a:srgbClr val="0A8C66"/>
                </a:solidFill>
                <a:latin typeface="Inter Tight"/>
              </a:rPr>
              <a:t>70%+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068" y="4035907"/>
            <a:ext cx="32918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Mid–senior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59" y="3377541"/>
            <a:ext cx="329183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992" b="1" i="0" spc="-99">
                <a:solidFill>
                  <a:srgbClr val="0A8C66"/>
                </a:solidFill>
                <a:latin typeface="Inter Tight"/>
              </a:rPr>
              <a:t>12 yrs+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7659" y="4035907"/>
            <a:ext cx="32918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Community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4FE8A9"/>
                </a:solidFill>
                <a:latin typeface="Inter"/>
              </a:rPr>
              <a:t>GLOBAL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42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84" b="1" i="0" spc="-83">
                <a:solidFill>
                  <a:srgbClr val="FFFFFF"/>
                </a:solidFill>
                <a:latin typeface="Inter Tight"/>
              </a:rPr>
              <a:t>A representative community, in </a:t>
            </a:r>
            <a:r>
              <a:rPr sz="2784" b="1" i="1" spc="-83">
                <a:solidFill>
                  <a:srgbClr val="FFFFFF"/>
                </a:solidFill>
                <a:latin typeface="Inter Tight"/>
              </a:rPr>
              <a:t>190 countries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858585"/>
                </a:solidFill>
                <a:latin typeface="Inter"/>
              </a:rPr>
              <a:t>Community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858585"/>
                </a:solidFill>
                <a:latin typeface="Inter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1745047" y="2487150"/>
            <a:ext cx="55174" cy="55174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0129" y="2698111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9524" y="2415748"/>
            <a:ext cx="74647" cy="74647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4001" y="2753286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83197" y="290907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52150" y="3292047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75666" y="2750040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85830" y="3006439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96179" y="270460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57232" y="2814951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44648" y="3235250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20122" y="3022666"/>
            <a:ext cx="55174" cy="55174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07723" y="2819819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96364" y="3295293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11367" y="2665656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52179" y="2410880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74257" y="2814951"/>
            <a:ext cx="74647" cy="74647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17246" y="2603990"/>
            <a:ext cx="55174" cy="55174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77318" y="2961001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35923" y="2993456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80748" y="2925300"/>
            <a:ext cx="74647" cy="74647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81175" y="2467677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2136" y="2824688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59866" y="3191435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78513" y="2741926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26186" y="2565044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05488" y="2558552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43823" y="261697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09958" y="2892844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020919" y="2941528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806343" y="4609741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465560" y="4028788"/>
            <a:ext cx="74647" cy="74647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241617" y="3700987"/>
            <a:ext cx="55174" cy="55174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621346" y="3571165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871254" y="420080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626214" y="3621471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624592" y="4028788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890727" y="4009314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291923" y="4364702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686257" y="4080716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569417" y="3626339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407140" y="4236503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77930" y="3895720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47097" y="4108304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631083" y="4418254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777133" y="4356588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43453" y="434685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525602" y="3679891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31353" y="3105428"/>
            <a:ext cx="64911" cy="64911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775140" y="2735435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53859" y="3048631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79823" y="2977229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796236" y="2681883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843296" y="2965869"/>
            <a:ext cx="64911" cy="64911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536222" y="2912318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702115" y="2818197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809218" y="2986965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003951" y="2798723"/>
            <a:ext cx="55174" cy="55174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412891" y="2925300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532976" y="2714339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872506" y="2579649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70699" y="2629955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731325" y="2925300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425873" y="2776004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153247" y="2409257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383681" y="402554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244122" y="396712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289560" y="3769143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809218" y="3343976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386926" y="3710723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11667" y="3733442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002328" y="3725328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69289" y="3347222"/>
            <a:ext cx="74647" cy="74647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877375" y="3636076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190571" y="3365072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677403" y="3296916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669289" y="4249485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8165" y="4155364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604378" y="3298538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164606" y="3608489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490784" y="3133015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765403" y="3501385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18955" y="4272204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61147" y="3431606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929304" y="3993086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442101" y="4217030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700122" y="3780503"/>
            <a:ext cx="64911" cy="64911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799481" y="3915193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152877" y="2360574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769902" y="3340731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838058" y="2344346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149631" y="2493641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606884" y="264618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243752" y="2698111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628350" y="2543947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58813" y="2383293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730585" y="2552061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513133" y="3100560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722471" y="3374809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636094" y="2740303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315154" y="2406012"/>
            <a:ext cx="55174" cy="55174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883126" y="3360204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765033" y="3319634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032421" y="2393029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514756" y="2644560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725717" y="2621841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974371" y="273381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639710" y="2574780"/>
            <a:ext cx="55174" cy="55174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292065" y="2509869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17788" y="3077841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685147" y="3207663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085973" y="2913940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22073" y="2383293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808478" y="3382923"/>
            <a:ext cx="55174" cy="55174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682272" y="308433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532606" y="2399520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009702" y="2912318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740692" y="3431606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726087" y="3196303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353731" y="261697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935055" y="2870125"/>
            <a:ext cx="74647" cy="74647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486799" y="2675392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928564" y="2431976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948037" y="3149243"/>
            <a:ext cx="55174" cy="55174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721218" y="2655919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991852" y="2677015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561816" y="2480659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768279" y="2887976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288820" y="3464062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399539" y="3412133"/>
            <a:ext cx="55174" cy="55174"/>
          </a:xfrm>
          <a:prstGeom prst="ellipse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778015" y="3209286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4865645" y="3293670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045404" y="2600745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016194" y="4447464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496535" y="4171592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595525" y="3959008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993475" y="4444218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126542" y="4148873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616621" y="3993086"/>
            <a:ext cx="74647" cy="74647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613375" y="4109926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133033" y="4450709"/>
            <a:ext cx="55174" cy="5517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254742" y="4121286"/>
            <a:ext cx="64911" cy="64911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710301" y="1849399"/>
            <a:ext cx="1686099" cy="438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264" b="1" i="0">
                <a:solidFill>
                  <a:srgbClr val="4FE8A9"/>
                </a:solidFill>
                <a:latin typeface="Inter Tight"/>
              </a:rPr>
              <a:t>400M+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710301" y="2337078"/>
            <a:ext cx="1686099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4" b="0" i="0">
                <a:solidFill>
                  <a:srgbClr val="CFCFCF"/>
                </a:solidFill>
                <a:latin typeface="Inter"/>
              </a:rPr>
              <a:t>Reach across networks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713391" y="1849399"/>
            <a:ext cx="1686099" cy="438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264" b="1" i="0">
                <a:solidFill>
                  <a:srgbClr val="4FE8A9"/>
                </a:solidFill>
                <a:latin typeface="Inter Tight"/>
              </a:rPr>
              <a:t>75%+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713391" y="2337078"/>
            <a:ext cx="1686099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4" b="0" i="0">
                <a:solidFill>
                  <a:srgbClr val="CFCFCF"/>
                </a:solidFill>
                <a:latin typeface="Inter"/>
              </a:rPr>
              <a:t>Women &amp; BIPOC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710301" y="2824757"/>
            <a:ext cx="1686099" cy="438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264" b="1" i="0">
                <a:solidFill>
                  <a:srgbClr val="4FE8A9"/>
                </a:solidFill>
                <a:latin typeface="Inter Tight"/>
              </a:rPr>
              <a:t>70%+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710301" y="3312436"/>
            <a:ext cx="1686099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4" b="0" i="0">
                <a:solidFill>
                  <a:srgbClr val="CFCFCF"/>
                </a:solidFill>
                <a:latin typeface="Inter"/>
              </a:rPr>
              <a:t>Mid–senior level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13391" y="2824757"/>
            <a:ext cx="1686099" cy="438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264" b="1" i="0">
                <a:solidFill>
                  <a:srgbClr val="4FE8A9"/>
                </a:solidFill>
                <a:latin typeface="Inter Tight"/>
              </a:rPr>
              <a:t>27%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713391" y="3312436"/>
            <a:ext cx="1686099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4" b="0" i="0">
                <a:solidFill>
                  <a:srgbClr val="CFCFCF"/>
                </a:solidFill>
                <a:latin typeface="Inter"/>
              </a:rPr>
              <a:t>Hold a graduate degree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THE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Technical, domain, and go-to-market —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in one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667251"/>
            <a:ext cx="3291831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34">
                <a:solidFill>
                  <a:srgbClr val="0A8C66"/>
                </a:solidFill>
                <a:latin typeface="Inter"/>
              </a:rPr>
              <a:t>TECHNICAL EXPERTS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478" y="193547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78" y="2002530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ML &amp; data science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478" y="223295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8" y="230001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Software engineering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78" y="253044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478" y="259749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DevOps &amp; MLOps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478" y="2827927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78" y="2894983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Cyber &amp; information 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78" y="3125411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78" y="3192467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RLHF &amp; evaluation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478" y="342289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78" y="3489951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AI safety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478" y="372037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478" y="378743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Applied research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78" y="401786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478" y="408491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Prompt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068" y="1667251"/>
            <a:ext cx="3291831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34">
                <a:solidFill>
                  <a:srgbClr val="0A8C66"/>
                </a:solidFill>
                <a:latin typeface="Inter"/>
              </a:rPr>
              <a:t>DOMAIN EXPERTS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50068" y="193547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0068" y="2002530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Finance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50068" y="223295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68" y="230001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Healthcare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50068" y="253044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0068" y="259749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Legal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50068" y="2827927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0068" y="2894983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Media &amp; publishing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0068" y="3125411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0068" y="3192467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Retail &amp; consumer goods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50068" y="342289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0068" y="3489951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Ecommerce &amp; hospitality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50068" y="372037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0068" y="378743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Technology &amp; telecom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50068" y="401786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0068" y="408491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Manufacturing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7659" y="1667251"/>
            <a:ext cx="3291831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34">
                <a:solidFill>
                  <a:srgbClr val="0A8C66"/>
                </a:solidFill>
                <a:latin typeface="Inter"/>
              </a:rPr>
              <a:t>GTM, IMPLEMENTATION &amp; G&amp;A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7659" y="193547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07659" y="2002530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Solutions engineers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07659" y="223295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7659" y="230001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Technical account managers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07659" y="253044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7659" y="259749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Product managers &amp; designers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07659" y="2827927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07659" y="2894983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Product marketing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07659" y="3125411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07659" y="3192467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Customer success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07659" y="342289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7659" y="3489951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Revenue operations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07659" y="372037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07659" y="378743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Human resources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07659" y="401786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07659" y="408491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Program management</a:t>
            </a:r>
          </a:p>
        </p:txBody>
      </p:sp>
      <p:pic>
        <p:nvPicPr>
          <p:cNvPr id="57" name="Picture 56" descr="_fit-01.fat-black-lady-photo-1664575600397-88e370cb46b8.jpg"/>
          <p:cNvPicPr>
            <a:picLocks noChangeAspect="1"/>
          </p:cNvPicPr>
          <p:nvPr/>
        </p:nvPicPr>
        <p:blipFill>
          <a:blip r:embed="rId2"/>
          <a:srcRect l="16656" r="16656"/>
          <a:stretch>
            <a:fillRect/>
          </a:stretch>
        </p:blipFill>
        <p:spPr>
          <a:xfrm>
            <a:off x="792478" y="5333986"/>
            <a:ext cx="609598" cy="609598"/>
          </a:xfrm>
          <a:prstGeom prst="rect">
            <a:avLst/>
          </a:prstGeom>
          <a:prstGeom prst="ellipse">
            <a:avLst/>
          </a:prstGeom>
        </p:spPr>
      </p:pic>
      <p:pic>
        <p:nvPicPr>
          <p:cNvPr id="58" name="Picture 57" descr="_fit-04.gay-black-man-good-faces-_6p2QFjur7M-unsplash.jpg"/>
          <p:cNvPicPr>
            <a:picLocks noChangeAspect="1"/>
          </p:cNvPicPr>
          <p:nvPr/>
        </p:nvPicPr>
        <p:blipFill>
          <a:blip r:embed="rId3"/>
          <a:srcRect t="16656" b="16656"/>
          <a:stretch>
            <a:fillRect/>
          </a:stretch>
        </p:blipFill>
        <p:spPr>
          <a:xfrm>
            <a:off x="1536188" y="5333986"/>
            <a:ext cx="609598" cy="609598"/>
          </a:xfrm>
          <a:prstGeom prst="rect">
            <a:avLst/>
          </a:prstGeom>
          <a:prstGeom prst="ellipse">
            <a:avLst/>
          </a:prstGeom>
        </p:spPr>
      </p:pic>
      <p:pic>
        <p:nvPicPr>
          <p:cNvPr id="59" name="Picture 58" descr="_fit-10.fat-latina-lady-gui-franca-NVISlgb9ME8-unsplash.jpg"/>
          <p:cNvPicPr>
            <a:picLocks noChangeAspect="1"/>
          </p:cNvPicPr>
          <p:nvPr/>
        </p:nvPicPr>
        <p:blipFill>
          <a:blip r:embed="rId4"/>
          <a:srcRect t="12500" b="12500"/>
          <a:stretch>
            <a:fillRect/>
          </a:stretch>
        </p:blipFill>
        <p:spPr>
          <a:xfrm>
            <a:off x="2279898" y="5333986"/>
            <a:ext cx="609598" cy="609598"/>
          </a:xfrm>
          <a:prstGeom prst="rect">
            <a:avLst/>
          </a:prstGeom>
          <a:prstGeom prst="ellipse">
            <a:avLst/>
          </a:prstGeom>
        </p:spPr>
      </p:pic>
      <p:pic>
        <p:nvPicPr>
          <p:cNvPr id="60" name="Picture 59" descr="_fit-07.indian-man-harps-joseph-tAvpDE7fXgY-unsplash.jpg"/>
          <p:cNvPicPr>
            <a:picLocks noChangeAspect="1"/>
          </p:cNvPicPr>
          <p:nvPr/>
        </p:nvPicPr>
        <p:blipFill>
          <a:blip r:embed="rId5"/>
          <a:srcRect l="16656" r="16656"/>
          <a:stretch>
            <a:fillRect/>
          </a:stretch>
        </p:blipFill>
        <p:spPr>
          <a:xfrm>
            <a:off x="3023608" y="5333986"/>
            <a:ext cx="609598" cy="609598"/>
          </a:xfrm>
          <a:prstGeom prst="rect">
            <a:avLst/>
          </a:prstGeom>
          <a:prstGeom prst="ellipse">
            <a:avLst/>
          </a:prstGeom>
        </p:spPr>
      </p:pic>
      <p:pic>
        <p:nvPicPr>
          <p:cNvPr id="61" name="Picture 60" descr="_fit-05.fat-white-lady-allgo-an-app-for-plus-size-people-39qdb4V84YI-unsplash.jpg"/>
          <p:cNvPicPr>
            <a:picLocks noChangeAspect="1"/>
          </p:cNvPicPr>
          <p:nvPr/>
        </p:nvPicPr>
        <p:blipFill>
          <a:blip r:embed="rId6"/>
          <a:srcRect l="16656" r="16656"/>
          <a:stretch>
            <a:fillRect/>
          </a:stretch>
        </p:blipFill>
        <p:spPr>
          <a:xfrm>
            <a:off x="3767318" y="5333986"/>
            <a:ext cx="609598" cy="609598"/>
          </a:xfrm>
          <a:prstGeom prst="rect">
            <a:avLst/>
          </a:prstGeom>
          <a:prstGeom prst="ellipse">
            <a:avLst/>
          </a:prstGeom>
        </p:spPr>
      </p:pic>
      <p:pic>
        <p:nvPicPr>
          <p:cNvPr id="62" name="Picture 61" descr="_fit-13.latino-old-man-christian-buehner-h0_elok-uKI-unsplash.jpg"/>
          <p:cNvPicPr>
            <a:picLocks noChangeAspect="1"/>
          </p:cNvPicPr>
          <p:nvPr/>
        </p:nvPicPr>
        <p:blipFill>
          <a:blip r:embed="rId7"/>
          <a:srcRect t="11906" b="11906"/>
          <a:stretch>
            <a:fillRect/>
          </a:stretch>
        </p:blipFill>
        <p:spPr>
          <a:xfrm>
            <a:off x="4511028" y="5333986"/>
            <a:ext cx="609598" cy="609598"/>
          </a:xfrm>
          <a:prstGeom prst="rect">
            <a:avLst/>
          </a:prstGeom>
          <a:prstGeom prst="ellipse">
            <a:avLst/>
          </a:prstGeom>
        </p:spPr>
      </p:pic>
      <p:pic>
        <p:nvPicPr>
          <p:cNvPr id="63" name="Picture 62" descr="_fit-11.black-lady-laptop-christina-wocintechchat-com-m-7RRj4wDX7LE-unsplash.jpg"/>
          <p:cNvPicPr>
            <a:picLocks noChangeAspect="1"/>
          </p:cNvPicPr>
          <p:nvPr/>
        </p:nvPicPr>
        <p:blipFill>
          <a:blip r:embed="rId8"/>
          <a:srcRect t="16625" b="16625"/>
          <a:stretch>
            <a:fillRect/>
          </a:stretch>
        </p:blipFill>
        <p:spPr>
          <a:xfrm>
            <a:off x="5254738" y="5333986"/>
            <a:ext cx="609598" cy="609598"/>
          </a:xfrm>
          <a:prstGeom prst="rect">
            <a:avLst/>
          </a:prstGeom>
          <a:prstGeom prst="ellipse">
            <a:avLst/>
          </a:prstGeom>
        </p:spPr>
      </p:pic>
      <p:pic>
        <p:nvPicPr>
          <p:cNvPr id="64" name="Picture 63" descr="_fit-08.white-blonde-lady-carlos-sabillon-FaX3eq_MLHQ-unsplash.jpg"/>
          <p:cNvPicPr>
            <a:picLocks noChangeAspect="1"/>
          </p:cNvPicPr>
          <p:nvPr/>
        </p:nvPicPr>
        <p:blipFill>
          <a:blip r:embed="rId9"/>
          <a:srcRect t="16656" b="16656"/>
          <a:stretch>
            <a:fillRect/>
          </a:stretch>
        </p:blipFill>
        <p:spPr>
          <a:xfrm>
            <a:off x="5998449" y="5333986"/>
            <a:ext cx="609598" cy="609598"/>
          </a:xfrm>
          <a:prstGeom prst="rect">
            <a:avLst/>
          </a:prstGeom>
          <a:prstGeom prst="ellipse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815310" y="5333986"/>
            <a:ext cx="4584180" cy="6095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152" b="0" i="0">
                <a:solidFill>
                  <a:srgbClr val="5C6F69"/>
                </a:solidFill>
                <a:latin typeface="Inter"/>
              </a:rPr>
              <a:t>80K+ validated experts across 190 countries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THE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87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64" b="1" i="0" spc="-97">
                <a:solidFill>
                  <a:srgbClr val="0A0A0A"/>
                </a:solidFill>
                <a:latin typeface="Inter Tight"/>
              </a:rPr>
              <a:t>AI initiatives stall without the right </a:t>
            </a:r>
            <a:r>
              <a:rPr sz="3264" b="1" i="1" spc="-97">
                <a:solidFill>
                  <a:srgbClr val="0A0A0A"/>
                </a:solidFill>
                <a:latin typeface="Inter Tight"/>
              </a:rPr>
              <a:t>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478" y="1767713"/>
            <a:ext cx="5145011" cy="254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78" y="1962785"/>
            <a:ext cx="51450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496" b="1" i="0">
                <a:solidFill>
                  <a:srgbClr val="0A8C66"/>
                </a:solidFill>
                <a:latin typeface="Inter Tight"/>
              </a:rPr>
              <a:t>Supply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2304160"/>
            <a:ext cx="5145011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28" b="1" i="0">
                <a:solidFill>
                  <a:srgbClr val="0A0A0A"/>
                </a:solidFill>
                <a:latin typeface="Inter Tight"/>
              </a:rPr>
              <a:t>Demand has outrun 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596767"/>
            <a:ext cx="5145011" cy="115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48" b="0" i="0">
                <a:solidFill>
                  <a:srgbClr val="2A2A2A"/>
                </a:solidFill>
                <a:latin typeface="Inter"/>
              </a:rPr>
              <a:t>Every major market is short on AI-native engineers, ML specialists, and domain experts who actually understand the business.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80" y="1767713"/>
            <a:ext cx="5145011" cy="254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80" y="1962785"/>
            <a:ext cx="51450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496" b="1" i="0">
                <a:solidFill>
                  <a:srgbClr val="0A8C66"/>
                </a:solidFill>
                <a:latin typeface="Inter Tight"/>
              </a:rPr>
              <a:t>Inbound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80" y="2304160"/>
            <a:ext cx="5145011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28" b="1" i="0">
                <a:solidFill>
                  <a:srgbClr val="0A0A0A"/>
                </a:solidFill>
                <a:latin typeface="Inter Tight"/>
              </a:rPr>
              <a:t>Fraud and candidate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80" y="2596767"/>
            <a:ext cx="5145011" cy="115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48" b="0" i="0">
                <a:solidFill>
                  <a:srgbClr val="2A2A2A"/>
                </a:solidFill>
                <a:latin typeface="Inter"/>
              </a:rPr>
              <a:t>AI-generated résumés have flooded your inbound. You're spending hours filtering instead of recruiting.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78" y="3995857"/>
            <a:ext cx="5145011" cy="254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78" y="4190928"/>
            <a:ext cx="51450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496" b="1" i="0">
                <a:solidFill>
                  <a:srgbClr val="0A8C66"/>
                </a:solidFill>
                <a:latin typeface="Inter Tight"/>
              </a:rPr>
              <a:t>1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78" y="4532303"/>
            <a:ext cx="5145011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28" b="1" i="0">
                <a:solidFill>
                  <a:srgbClr val="0A0A0A"/>
                </a:solidFill>
                <a:latin typeface="Inter Tight"/>
              </a:rPr>
              <a:t>One hiring model isn't enough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8" y="4824910"/>
            <a:ext cx="5145011" cy="115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48" b="0" i="0">
                <a:solidFill>
                  <a:srgbClr val="2A2A2A"/>
                </a:solidFill>
                <a:latin typeface="Inter"/>
              </a:rPr>
              <a:t>Full-time hires, fractional experts, and domain specialists to train your models — often all at the same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80" y="3995857"/>
            <a:ext cx="5145011" cy="254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80" y="4190928"/>
            <a:ext cx="51450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496" b="1" i="0">
                <a:solidFill>
                  <a:srgbClr val="0A8C66"/>
                </a:solidFill>
                <a:latin typeface="Inter Tight"/>
              </a:rPr>
              <a:t>78%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80" y="4532303"/>
            <a:ext cx="5145011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28" b="1" i="0">
                <a:solidFill>
                  <a:srgbClr val="0A0A0A"/>
                </a:solidFill>
                <a:latin typeface="Inter Tight"/>
              </a:rPr>
              <a:t>Homogeneous teams create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80" y="4824910"/>
            <a:ext cx="5145011" cy="115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48" b="0" i="0">
                <a:solidFill>
                  <a:srgbClr val="2A2A2A"/>
                </a:solidFill>
                <a:latin typeface="Inter"/>
              </a:rPr>
              <a:t>Of AI researchers are male (Stanford). The people training your models look nothing like the world your product serves.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5312650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4FE8A9"/>
                </a:solidFill>
                <a:latin typeface="Inter"/>
              </a:rPr>
              <a:t>THE TALENT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048509"/>
            <a:ext cx="5312650" cy="1119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592" b="1" i="0" spc="-77">
                <a:solidFill>
                  <a:srgbClr val="FFFFFF"/>
                </a:solidFill>
                <a:latin typeface="Inter Tight"/>
              </a:rPr>
              <a:t>AI-native, AI-fluent, and functional </a:t>
            </a:r>
            <a:r>
              <a:rPr sz="2592" b="1" i="1" spc="-77">
                <a:solidFill>
                  <a:srgbClr val="FFFFFF"/>
                </a:solidFill>
                <a:latin typeface="Inter Tight"/>
              </a:rPr>
              <a:t>domain experts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478" y="1951934"/>
            <a:ext cx="54863" cy="682750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60701" y="1951934"/>
            <a:ext cx="5044427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FFFFFF"/>
                </a:solidFill>
                <a:latin typeface="Inter Tight"/>
              </a:rPr>
              <a:t>Native AI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1" y="2281117"/>
            <a:ext cx="5044427" cy="438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48" b="0" i="0">
                <a:solidFill>
                  <a:srgbClr val="CFCFCF"/>
                </a:solidFill>
                <a:latin typeface="Inter"/>
              </a:rPr>
              <a:t>They build and work inside AI systems — prompting, fine-tuning, RLHF, red-teaming, evaluation.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478" y="2793180"/>
            <a:ext cx="54863" cy="682750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0701" y="2793180"/>
            <a:ext cx="5044427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FFFFFF"/>
                </a:solidFill>
                <a:latin typeface="Inter Tight"/>
              </a:rPr>
              <a:t>AI fluency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1" y="3122363"/>
            <a:ext cx="5044427" cy="438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48" b="0" i="0">
                <a:solidFill>
                  <a:srgbClr val="CFCFCF"/>
                </a:solidFill>
                <a:latin typeface="Inter"/>
              </a:rPr>
              <a:t>AI is woven into their daily workflow; they read outputs critically and know when to override.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78" y="3634426"/>
            <a:ext cx="54863" cy="682750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60701" y="3634426"/>
            <a:ext cx="5044427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FFFFFF"/>
                </a:solidFill>
                <a:latin typeface="Inter Tight"/>
              </a:rPr>
              <a:t>Deep domain expertise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1" y="3963609"/>
            <a:ext cx="5044427" cy="438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8000"/>
              </a:lnSpc>
            </a:pPr>
            <a:r>
              <a:rPr sz="1248" b="0" i="0">
                <a:solidFill>
                  <a:srgbClr val="CFCFCF"/>
                </a:solidFill>
                <a:latin typeface="Inter"/>
              </a:rPr>
              <a:t>Real functional credentials — engineers, scientists, marketers — not generalist AI enthusiasts.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92807" y="2182362"/>
            <a:ext cx="4806683" cy="2493257"/>
          </a:xfrm>
          <a:prstGeom prst="roundRect">
            <a:avLst>
              <a:gd name="adj" fmla="val 8801"/>
            </a:avLst>
          </a:prstGeom>
          <a:solidFill>
            <a:srgbClr val="0C1410"/>
          </a:solidFill>
          <a:ln w="12700">
            <a:solidFill>
              <a:srgbClr val="1A2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824454" y="2414009"/>
            <a:ext cx="353567" cy="353567"/>
          </a:xfrm>
          <a:prstGeom prst="roundRect">
            <a:avLst>
              <a:gd name="adj" fmla="val 29310"/>
            </a:avLst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99941" y="2414009"/>
            <a:ext cx="3343647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2" b="1" i="0">
                <a:solidFill>
                  <a:srgbClr val="FFFFFF"/>
                </a:solidFill>
                <a:latin typeface="Inter Tight"/>
              </a:rPr>
              <a:t>Expert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9941" y="2596889"/>
            <a:ext cx="3343647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0" i="0">
                <a:solidFill>
                  <a:srgbClr val="666666"/>
                </a:solidFill>
                <a:latin typeface="Inter"/>
              </a:rPr>
              <a:t>Clinical AI evaluator · Healthcare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4454" y="2414009"/>
            <a:ext cx="4343389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64" b="0" i="0" spc="86">
                <a:solidFill>
                  <a:srgbClr val="808080"/>
                </a:solidFill>
                <a:latin typeface="Inter"/>
              </a:rPr>
              <a:t>TRUSTED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24454" y="2926072"/>
            <a:ext cx="4343389" cy="414526"/>
          </a:xfrm>
          <a:prstGeom prst="roundRect">
            <a:avLst>
              <a:gd name="adj" fmla="val 32352"/>
            </a:avLst>
          </a:prstGeom>
          <a:solidFill>
            <a:srgbClr val="14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82950" y="2926072"/>
            <a:ext cx="4026397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4" b="0" i="0">
                <a:solidFill>
                  <a:srgbClr val="CFCFCF"/>
                </a:solidFill>
                <a:latin typeface="Inter"/>
              </a:rPr>
              <a:t>Native AI · RLHF, red-team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2950" y="2926072"/>
            <a:ext cx="4026397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83" b="0" i="0">
                <a:solidFill>
                  <a:srgbClr val="858585"/>
                </a:solidFill>
                <a:latin typeface="Inter"/>
              </a:rPr>
              <a:t>Verified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24454" y="3432039"/>
            <a:ext cx="4343389" cy="414526"/>
          </a:xfrm>
          <a:prstGeom prst="roundRect">
            <a:avLst>
              <a:gd name="adj" fmla="val 32352"/>
            </a:avLst>
          </a:prstGeom>
          <a:solidFill>
            <a:srgbClr val="14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82950" y="3432039"/>
            <a:ext cx="4026397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4" b="0" i="0">
                <a:solidFill>
                  <a:srgbClr val="CFCFCF"/>
                </a:solidFill>
                <a:latin typeface="Inter"/>
              </a:rPr>
              <a:t>AI fluency · daily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2950" y="3432039"/>
            <a:ext cx="4026397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83" b="0" i="0">
                <a:solidFill>
                  <a:srgbClr val="858585"/>
                </a:solidFill>
                <a:latin typeface="Inter"/>
              </a:rPr>
              <a:t>Verified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24454" y="3938006"/>
            <a:ext cx="4343389" cy="414526"/>
          </a:xfrm>
          <a:prstGeom prst="roundRect">
            <a:avLst>
              <a:gd name="adj" fmla="val 32352"/>
            </a:avLst>
          </a:prstGeom>
          <a:solidFill>
            <a:srgbClr val="112C22"/>
          </a:solidFill>
          <a:ln w="12700">
            <a:solidFill>
              <a:srgbClr val="4FE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982950" y="3938006"/>
            <a:ext cx="4026397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4" b="0" i="0">
                <a:solidFill>
                  <a:srgbClr val="FFFFFF"/>
                </a:solidFill>
                <a:latin typeface="Inter"/>
              </a:rPr>
              <a:t>Domain · 11 yrs clinical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2950" y="3938006"/>
            <a:ext cx="4026397" cy="414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83" b="1" i="0">
                <a:solidFill>
                  <a:srgbClr val="4FE8A9"/>
                </a:solidFill>
                <a:latin typeface="Inter"/>
              </a:rPr>
              <a:t>Qualified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87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64" b="1" i="0" spc="-97">
                <a:solidFill>
                  <a:srgbClr val="0A0A0A"/>
                </a:solidFill>
                <a:latin typeface="Inter Tight"/>
              </a:rPr>
              <a:t>Flexible ways to scale your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43329"/>
            <a:ext cx="5059667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44" b="1" i="0">
                <a:solidFill>
                  <a:srgbClr val="0A8C66"/>
                </a:solidFill>
                <a:latin typeface="Inter T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1987169"/>
            <a:ext cx="5059667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304" b="1" i="0" spc="-23">
                <a:solidFill>
                  <a:srgbClr val="0A0A0A"/>
                </a:solidFill>
                <a:latin typeface="Inter Tight"/>
              </a:rPr>
              <a:t>Hire AI-skilled talent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2401696"/>
            <a:ext cx="5059667" cy="247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1344" b="0" i="0">
                <a:solidFill>
                  <a:srgbClr val="2A2A2A"/>
                </a:solidFill>
                <a:latin typeface="Inter"/>
              </a:rPr>
              <a:t>Verified and qualified professionals — full-time or fractional.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795496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Direct 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3103039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Fractional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410581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Contract to hire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8" y="3718123"/>
            <a:ext cx="5059667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8" b="1" i="0" spc="141">
                <a:solidFill>
                  <a:srgbClr val="5C6F69"/>
                </a:solidFill>
                <a:latin typeface="Inter"/>
              </a:rPr>
              <a:t>SUPPORTED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8" y="3961963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Talent acquisition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8" y="4269505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Recruiting &amp; networking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78" y="4577048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Leadership development &amp; upskilling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9824" y="1743329"/>
            <a:ext cx="5059667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44" b="1" i="0">
                <a:solidFill>
                  <a:srgbClr val="0A8C66"/>
                </a:solidFill>
                <a:latin typeface="Inter Tigh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24" y="1987169"/>
            <a:ext cx="5059667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304" b="1" i="0" spc="-23">
                <a:solidFill>
                  <a:srgbClr val="0A0A0A"/>
                </a:solidFill>
                <a:latin typeface="Inter Tight"/>
              </a:rPr>
              <a:t>Train your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824" y="2401696"/>
            <a:ext cx="5059667" cy="247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1344" b="0" i="0">
                <a:solidFill>
                  <a:srgbClr val="2A2A2A"/>
                </a:solidFill>
                <a:latin typeface="Inter"/>
              </a:rPr>
              <a:t>Embedded and outsourced teams that train and evaluate your in-house models.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9824" y="2795496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Data labeling &amp; annotation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9824" y="3103039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RLHF &amp; model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9824" y="3410581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Red-teaming &amp; 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9824" y="3718123"/>
            <a:ext cx="5059667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8" b="1" i="0" spc="141">
                <a:solidFill>
                  <a:srgbClr val="5C6F69"/>
                </a:solidFill>
                <a:latin typeface="Inter"/>
              </a:rPr>
              <a:t>ROLES WE 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9824" y="3961963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Domain evaluators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9824" y="4269505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Annotation specialists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9824" y="4577048"/>
            <a:ext cx="5059667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0" i="0">
                <a:solidFill>
                  <a:srgbClr val="0A0A0A"/>
                </a:solidFill>
                <a:latin typeface="Inter"/>
              </a:rPr>
              <a:t>AI safety reviewers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THE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From brief to first match in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under 14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89171"/>
            <a:ext cx="2432297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215890"/>
            <a:ext cx="2432297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Tell us the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2569457"/>
            <a:ext cx="2432297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The function, the domain, the timeline.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7383" y="1789171"/>
            <a:ext cx="2432297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7383" y="2215890"/>
            <a:ext cx="2432297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We surface experts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7383" y="2569457"/>
            <a:ext cx="2432297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Pre-vetted people who already know your industry.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288" y="1789171"/>
            <a:ext cx="2432297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2288" y="2215890"/>
            <a:ext cx="2432297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You interview a shortlist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2288" y="2569457"/>
            <a:ext cx="2432297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A handful of strong fits, not a stack of résumés.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7193" y="1789171"/>
            <a:ext cx="2432297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7193" y="2215890"/>
            <a:ext cx="2432297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Hire or engage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7193" y="2569457"/>
            <a:ext cx="2432297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Full-time, fractional, or to train your models.</a:t>
            </a:r>
          </a:p>
        </p:txBody>
      </p:sp>
      <p:pic>
        <p:nvPicPr>
          <p:cNvPr id="18" name="Picture 17" descr="_fit-https-images-pexels-com-photos-7108700-pexels-photo-7108700-jpeg.jpg"/>
          <p:cNvPicPr>
            <a:picLocks noChangeAspect="1"/>
          </p:cNvPicPr>
          <p:nvPr/>
        </p:nvPicPr>
        <p:blipFill>
          <a:blip r:embed="rId2"/>
          <a:srcRect t="7225" b="13418"/>
          <a:stretch>
            <a:fillRect/>
          </a:stretch>
        </p:blipFill>
        <p:spPr>
          <a:xfrm>
            <a:off x="792478" y="3313167"/>
            <a:ext cx="10607013" cy="26304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BUSINESS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87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64" b="1" i="0" spc="-97">
                <a:solidFill>
                  <a:srgbClr val="0A0A0A"/>
                </a:solidFill>
                <a:latin typeface="Inter Tight"/>
              </a:rPr>
              <a:t>When they're interviewing, you're in </a:t>
            </a:r>
            <a:r>
              <a:rPr sz="3264" b="1" i="1" spc="-97">
                <a:solidFill>
                  <a:srgbClr val="0A0A0A"/>
                </a:solidFill>
                <a:latin typeface="Inter Tight"/>
              </a:rPr>
              <a:t>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78" y="1840865"/>
            <a:ext cx="414526" cy="414526"/>
          </a:xfrm>
          <a:prstGeom prst="roundRect">
            <a:avLst>
              <a:gd name="adj" fmla="val 50000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39" b="1" i="0">
                <a:solidFill>
                  <a:srgbClr val="0A8C66"/>
                </a:solidFill>
                <a:latin typeface="Inter Tigh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377312"/>
            <a:ext cx="2432297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Accelerate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2816223"/>
            <a:ext cx="2432297" cy="3127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Verified experts contribute from day one — not month three after a domain crash course.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7383" y="1840865"/>
            <a:ext cx="414526" cy="414526"/>
          </a:xfrm>
          <a:prstGeom prst="roundRect">
            <a:avLst>
              <a:gd name="adj" fmla="val 50000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39" b="1" i="0">
                <a:solidFill>
                  <a:srgbClr val="0A8C66"/>
                </a:solidFill>
                <a:latin typeface="Inter Tigh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7383" y="2377312"/>
            <a:ext cx="2432297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Improve AI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7383" y="2816223"/>
            <a:ext cx="2432297" cy="3127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Domain experts who understand your data context produce better models and evaluations.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2288" y="1840865"/>
            <a:ext cx="414526" cy="414526"/>
          </a:xfrm>
          <a:prstGeom prst="roundRect">
            <a:avLst>
              <a:gd name="adj" fmla="val 50000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39" b="1" i="0">
                <a:solidFill>
                  <a:srgbClr val="0A8C66"/>
                </a:solidFill>
                <a:latin typeface="Inter Tigh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2288" y="2377312"/>
            <a:ext cx="2432297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Compete effectively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2288" y="2816223"/>
            <a:ext cx="2432297" cy="3127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Ship AI faster than competitors still searching for the people to build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7193" y="1840865"/>
            <a:ext cx="414526" cy="414526"/>
          </a:xfrm>
          <a:prstGeom prst="roundRect">
            <a:avLst>
              <a:gd name="adj" fmla="val 50000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39" b="1" i="0">
                <a:solidFill>
                  <a:srgbClr val="0A8C66"/>
                </a:solidFill>
                <a:latin typeface="Inter Tigh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7193" y="2377312"/>
            <a:ext cx="2432297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Reduce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7193" y="2816223"/>
            <a:ext cx="2432297" cy="3127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Project-to-hire lets you validate fit before you commit. No bad-hire tax.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WHAT SETS US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42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84" b="1" i="0" spc="-83">
                <a:solidFill>
                  <a:srgbClr val="0A0A0A"/>
                </a:solidFill>
                <a:latin typeface="Inter Tight"/>
              </a:rPr>
              <a:t>AI expertise. Representative talent. End-to-end hiring.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581176"/>
            <a:ext cx="10607013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Companies shouldn't have to choose between the three.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478" y="2050567"/>
            <a:ext cx="2505449" cy="3929593"/>
          </a:xfrm>
          <a:prstGeom prst="roundRect">
            <a:avLst>
              <a:gd name="adj" fmla="val 5839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87549" y="2270022"/>
            <a:ext cx="2115306" cy="356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1" b="1" i="0" spc="109">
                <a:solidFill>
                  <a:srgbClr val="5C6F69"/>
                </a:solidFill>
                <a:latin typeface="Inter"/>
              </a:rPr>
              <a:t>AI MARKETPLACES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Toptal · Scale · Andela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AI &amp; technical vetting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5C6F69"/>
                </a:solidFill>
                <a:latin typeface="Inter"/>
              </a:rPr>
              <a:t>✕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Homogeneous talent pool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5C6F69"/>
                </a:solidFill>
                <a:latin typeface="Inter"/>
              </a:rPr>
              <a:t>✕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Premium-only pricing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5C6F69"/>
                </a:solidFill>
                <a:latin typeface="Inter"/>
              </a:rPr>
              <a:t>✕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Limited hiring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2999" y="2050567"/>
            <a:ext cx="2505449" cy="3929593"/>
          </a:xfrm>
          <a:prstGeom prst="roundRect">
            <a:avLst>
              <a:gd name="adj" fmla="val 5839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88070" y="2270022"/>
            <a:ext cx="2115306" cy="356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1" b="1" i="0" spc="109">
                <a:solidFill>
                  <a:srgbClr val="5C6F69"/>
                </a:solidFill>
                <a:latin typeface="Inter"/>
              </a:rPr>
              <a:t>TALENT COMMUNITIES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Handshake · Fairygodboss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Engaged communities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Employer visibility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5C6F69"/>
                </a:solidFill>
                <a:latin typeface="Inter"/>
              </a:rPr>
              <a:t>✕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No AI specialization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5C6F69"/>
                </a:solidFill>
                <a:latin typeface="Inter"/>
              </a:rPr>
              <a:t>✕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Limited vetting &amp;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3520" y="2050567"/>
            <a:ext cx="2505449" cy="3929593"/>
          </a:xfrm>
          <a:prstGeom prst="roundRect">
            <a:avLst>
              <a:gd name="adj" fmla="val 5839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88592" y="2270022"/>
            <a:ext cx="2115306" cy="356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1" b="1" i="0" spc="109">
                <a:solidFill>
                  <a:srgbClr val="5C6F69"/>
                </a:solidFill>
                <a:latin typeface="Inter"/>
              </a:rPr>
              <a:t>TRADITIONAL STAFFING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Robert Half · TEKsystems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Recruiting &amp; placement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5C6F69"/>
                </a:solidFill>
                <a:latin typeface="Inter"/>
              </a:rPr>
              <a:t>✕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Generalist talent pool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5C6F69"/>
                </a:solidFill>
                <a:latin typeface="Inter"/>
              </a:rPr>
              <a:t>✕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No AI specialization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5C6F69"/>
                </a:solidFill>
                <a:latin typeface="Inter"/>
              </a:rPr>
              <a:t>✕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No community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94041" y="2050567"/>
            <a:ext cx="2505449" cy="3929593"/>
          </a:xfrm>
          <a:prstGeom prst="roundRect">
            <a:avLst>
              <a:gd name="adj" fmla="val 5839"/>
            </a:avLst>
          </a:prstGeom>
          <a:solidFill>
            <a:srgbClr val="F2F8F6"/>
          </a:solidFill>
          <a:ln w="12700">
            <a:solidFill>
              <a:srgbClr val="0A8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89113" y="2270022"/>
            <a:ext cx="2115306" cy="356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1" b="1" i="0" spc="109">
                <a:solidFill>
                  <a:srgbClr val="5C6F69"/>
                </a:solidFill>
                <a:latin typeface="Inter"/>
              </a:rPr>
              <a:t>POWERTOFLY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AI + domain · 190 countries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AI + domain expertise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Representative community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Flexible pricing &amp; hiring</a:t>
            </a:r>
          </a:p>
          <a:p>
            <a:pPr>
              <a:lnSpc>
                <a:spcPct val="130000"/>
              </a:lnSpc>
            </a:pPr>
            <a:r>
              <a:rPr sz="1104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Full placement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fit-https-images-pexels-com-photos-7495555-pexels-photo-7495555-jpeg.jpg"/>
          <p:cNvPicPr>
            <a:picLocks noChangeAspect="1"/>
          </p:cNvPicPr>
          <p:nvPr/>
        </p:nvPicPr>
        <p:blipFill>
          <a:blip r:embed="rId2"/>
          <a:srcRect l="20000" r="20000"/>
          <a:stretch>
            <a:fillRect/>
          </a:stretch>
        </p:blipFill>
        <p:spPr>
          <a:xfrm>
            <a:off x="4876787" y="0"/>
            <a:ext cx="7315181" cy="68579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76787" y="0"/>
            <a:ext cx="7315181" cy="6857982"/>
          </a:xfrm>
          <a:prstGeom prst="rect">
            <a:avLst/>
          </a:prstGeom>
          <a:gradFill rotWithShape="1">
            <a:gsLst>
              <a:gs pos="0">
                <a:srgbClr val="0A0A0A">
                  <a:alpha val="100000"/>
                </a:srgbClr>
              </a:gs>
              <a:gs pos="22000">
                <a:srgbClr val="0A0A0A">
                  <a:alpha val="72000"/>
                </a:srgbClr>
              </a:gs>
              <a:gs pos="60000">
                <a:srgbClr val="0A0A0A">
                  <a:alpha val="28000"/>
                </a:srgbClr>
              </a:gs>
              <a:gs pos="100000">
                <a:srgbClr val="0A0A0A">
                  <a:alpha val="12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4FE8A9"/>
                </a:solidFill>
                <a:latin typeface="Inter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2902298"/>
            <a:ext cx="4632948" cy="921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</a:pPr>
            <a:r>
              <a:rPr sz="5184" b="1" i="0" spc="-155">
                <a:solidFill>
                  <a:srgbClr val="FFFFFF"/>
                </a:solidFill>
                <a:latin typeface="Inter Tight"/>
              </a:rPr>
              <a:t>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3922766"/>
            <a:ext cx="3901430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632" b="0" i="0">
                <a:solidFill>
                  <a:srgbClr val="CFCFCF"/>
                </a:solidFill>
                <a:latin typeface="Inter"/>
              </a:rPr>
              <a:t>Virtual and onsite events that put your team in front of curated, engaged talent.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858585"/>
                </a:solidFill>
                <a:latin typeface="Inter"/>
              </a:rPr>
              <a:t>PowerToFly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85858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We bring the right people into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594100"/>
            <a:ext cx="10607013" cy="54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Build qualified pipelines, strengthen employer brand, and accelerate hiring through curated events and targeted engagement campaigns.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478" y="2337810"/>
            <a:ext cx="414526" cy="414526"/>
          </a:xfrm>
          <a:prstGeom prst="roundRect">
            <a:avLst>
              <a:gd name="adj" fmla="val 50000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39" b="1" i="0">
                <a:solidFill>
                  <a:srgbClr val="0A8C66"/>
                </a:solidFill>
                <a:latin typeface="Inter Tigh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2874256"/>
            <a:ext cx="2432297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Qualified AI talent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3313167"/>
            <a:ext cx="2432297" cy="2630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Meet AI-ready candidates aligned to the roles, skills, and industries you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7383" y="2337810"/>
            <a:ext cx="414526" cy="414526"/>
          </a:xfrm>
          <a:prstGeom prst="roundRect">
            <a:avLst>
              <a:gd name="adj" fmla="val 50000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39" b="1" i="0">
                <a:solidFill>
                  <a:srgbClr val="0A8C66"/>
                </a:solidFill>
                <a:latin typeface="Inter Tigh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7383" y="2874256"/>
            <a:ext cx="2432297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Talent brand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7383" y="3313167"/>
            <a:ext cx="2432297" cy="2630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Build visibility with the AI-ready talent you want — before you need to hire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2288" y="2337810"/>
            <a:ext cx="414526" cy="414526"/>
          </a:xfrm>
          <a:prstGeom prst="roundRect">
            <a:avLst>
              <a:gd name="adj" fmla="val 50000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39" b="1" i="0">
                <a:solidFill>
                  <a:srgbClr val="0A8C66"/>
                </a:solidFill>
                <a:latin typeface="Inter Tigh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2288" y="2874256"/>
            <a:ext cx="2432297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Thought leadership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288" y="3313167"/>
            <a:ext cx="2432297" cy="2630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Show up as a credible voice in the conversations shaping AI and the future of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7193" y="2337810"/>
            <a:ext cx="414526" cy="414526"/>
          </a:xfrm>
          <a:prstGeom prst="roundRect">
            <a:avLst>
              <a:gd name="adj" fmla="val 50000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39" b="1" i="0">
                <a:solidFill>
                  <a:srgbClr val="0A8C66"/>
                </a:solidFill>
                <a:latin typeface="Inter Tight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7193" y="2874256"/>
            <a:ext cx="2432297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Turnkey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7193" y="3313167"/>
            <a:ext cx="2432297" cy="2630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We build the audience, run the experience, and support follow-up. No heavy lift.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MULTI-SPONSOR VIRTUAL SUMMIT &amp; JOB FAIR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Hosted on Zoom · live + on-demand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1157627"/>
            <a:ext cx="426414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800" b="1" i="0">
                <a:solidFill>
                  <a:srgbClr val="0A8C66"/>
                </a:solidFill>
                <a:latin typeface="Inter Tight"/>
              </a:rP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864761"/>
            <a:ext cx="4264141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344" b="0" i="0">
                <a:solidFill>
                  <a:srgbClr val="2A2A2A"/>
                </a:solidFill>
                <a:latin typeface="Inter"/>
              </a:rPr>
              <a:t>Skilled professionals per event — native AI skill-sets, AI fluency, and functional domain expertise. Over 4,000 registrants across the 2026 series.</a:t>
            </a:r>
          </a:p>
        </p:txBody>
      </p:sp>
      <p:pic>
        <p:nvPicPr>
          <p:cNvPr id="7" name="Picture 6" descr="_fit-https-images-pexels-com-photos-8867482-pexels-photo-8867482-jpeg.jpg"/>
          <p:cNvPicPr>
            <a:picLocks noChangeAspect="1"/>
          </p:cNvPicPr>
          <p:nvPr/>
        </p:nvPicPr>
        <p:blipFill>
          <a:blip r:embed="rId2"/>
          <a:srcRect l="11069" r="11069"/>
          <a:stretch>
            <a:fillRect/>
          </a:stretch>
        </p:blipFill>
        <p:spPr>
          <a:xfrm>
            <a:off x="792478" y="2888887"/>
            <a:ext cx="4264141" cy="30425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44298" y="1157627"/>
            <a:ext cx="5855193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1" i="0">
                <a:solidFill>
                  <a:srgbClr val="0A0A0A"/>
                </a:solidFill>
                <a:latin typeface="Inter"/>
              </a:rPr>
              <a:t>Speaking session &amp; job fair </a:t>
            </a:r>
            <a:r>
              <a:rPr sz="1296" b="0" i="0">
                <a:solidFill>
                  <a:srgbClr val="2A2A2A"/>
                </a:solidFill>
                <a:latin typeface="Inter"/>
              </a:rPr>
              <a:t>— 30-minute pre-recorded session and a two-hour live job fair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4298" y="1570935"/>
            <a:ext cx="5855193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1" i="0">
                <a:solidFill>
                  <a:srgbClr val="0A0A0A"/>
                </a:solidFill>
                <a:latin typeface="Inter"/>
              </a:rPr>
              <a:t>Logo in all event marketing </a:t>
            </a:r>
            <a:r>
              <a:rPr sz="1296" b="0" i="0">
                <a:solidFill>
                  <a:srgbClr val="2A2A2A"/>
                </a:solidFill>
                <a:latin typeface="Inter"/>
              </a:rPr>
              <a:t>— registration pages, emails, social promotion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4298" y="1984243"/>
            <a:ext cx="5855193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1" i="0">
                <a:solidFill>
                  <a:srgbClr val="0A0A0A"/>
                </a:solidFill>
                <a:latin typeface="Inter"/>
              </a:rPr>
              <a:t>Post-event report </a:t>
            </a:r>
            <a:r>
              <a:rPr sz="1296" b="0" i="0">
                <a:solidFill>
                  <a:srgbClr val="2A2A2A"/>
                </a:solidFill>
                <a:latin typeface="Inter"/>
              </a:rPr>
              <a:t>— views, engagement, registrant and attendee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4298" y="2397550"/>
            <a:ext cx="5855193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1" i="0">
                <a:solidFill>
                  <a:srgbClr val="0A0A0A"/>
                </a:solidFill>
                <a:latin typeface="Inter"/>
              </a:rPr>
              <a:t>Lead list with contact info </a:t>
            </a:r>
            <a:r>
              <a:rPr sz="1296" b="0" i="0">
                <a:solidFill>
                  <a:srgbClr val="2A2A2A"/>
                </a:solidFill>
                <a:latin typeface="Inter"/>
              </a:rPr>
              <a:t>— engaged leads segmented to your buyer personas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4298" y="2810858"/>
            <a:ext cx="5855193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9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296" b="1" i="0">
                <a:solidFill>
                  <a:srgbClr val="0A0A0A"/>
                </a:solidFill>
                <a:latin typeface="Inter"/>
              </a:rPr>
              <a:t>Lead engagement </a:t>
            </a:r>
            <a:r>
              <a:rPr sz="1296" b="0" i="0">
                <a:solidFill>
                  <a:srgbClr val="2A2A2A"/>
                </a:solidFill>
                <a:latin typeface="Inter"/>
              </a:rPr>
              <a:t>— post-event campaign featuring the recording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2026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Six flagship events,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one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78" y="1667251"/>
            <a:ext cx="3389367" cy="2046726"/>
          </a:xfrm>
          <a:prstGeom prst="roundRect">
            <a:avLst>
              <a:gd name="adj" fmla="val 714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99741" y="1837939"/>
            <a:ext cx="2974840" cy="1754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FEBRUARY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Empower Her</a:t>
            </a:r>
          </a:p>
          <a:p>
            <a:pPr>
              <a:lnSpc>
                <a:spcPct val="125000"/>
              </a:lnSpc>
            </a:pPr>
            <a:r>
              <a:rPr sz="1152" b="0" i="0">
                <a:solidFill>
                  <a:srgbClr val="5C6F69"/>
                </a:solidFill>
                <a:latin typeface="Inter"/>
              </a:rPr>
              <a:t>Women &amp; non-binary talent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1300" y="1667251"/>
            <a:ext cx="3389367" cy="2046726"/>
          </a:xfrm>
          <a:prstGeom prst="roundRect">
            <a:avLst>
              <a:gd name="adj" fmla="val 714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08564" y="1837939"/>
            <a:ext cx="2974840" cy="1754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MARCH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Black Excellence</a:t>
            </a:r>
          </a:p>
          <a:p>
            <a:pPr>
              <a:lnSpc>
                <a:spcPct val="125000"/>
              </a:lnSpc>
            </a:pPr>
            <a:r>
              <a:rPr sz="1152" b="0" i="0">
                <a:solidFill>
                  <a:srgbClr val="5C6F69"/>
                </a:solidFill>
                <a:latin typeface="Inter"/>
              </a:rPr>
              <a:t>Black professionals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23" y="1667251"/>
            <a:ext cx="3389367" cy="2046726"/>
          </a:xfrm>
          <a:prstGeom prst="roundRect">
            <a:avLst>
              <a:gd name="adj" fmla="val 714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17387" y="1837939"/>
            <a:ext cx="2974840" cy="1754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JUNE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Pride Summit</a:t>
            </a:r>
          </a:p>
          <a:p>
            <a:pPr>
              <a:lnSpc>
                <a:spcPct val="125000"/>
              </a:lnSpc>
            </a:pPr>
            <a:r>
              <a:rPr sz="1152" b="0" i="0">
                <a:solidFill>
                  <a:srgbClr val="5C6F69"/>
                </a:solidFill>
                <a:latin typeface="Inter"/>
              </a:rPr>
              <a:t>LGBTQIA+ leaders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78" y="3933434"/>
            <a:ext cx="3389367" cy="2046726"/>
          </a:xfrm>
          <a:prstGeom prst="roundRect">
            <a:avLst>
              <a:gd name="adj" fmla="val 714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9741" y="4104121"/>
            <a:ext cx="2974840" cy="1754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SEPTEMBER 16–17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AI &amp; Emerging Tech</a:t>
            </a:r>
          </a:p>
          <a:p>
            <a:pPr>
              <a:lnSpc>
                <a:spcPct val="125000"/>
              </a:lnSpc>
            </a:pPr>
            <a:r>
              <a:rPr sz="1152" b="0" i="0">
                <a:solidFill>
                  <a:srgbClr val="5C6F69"/>
                </a:solidFill>
                <a:latin typeface="Inter"/>
              </a:rPr>
              <a:t>Flagship AI talent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1300" y="3933434"/>
            <a:ext cx="3389367" cy="2046726"/>
          </a:xfrm>
          <a:prstGeom prst="roundRect">
            <a:avLst>
              <a:gd name="adj" fmla="val 714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08564" y="4104121"/>
            <a:ext cx="2974840" cy="1754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OCTOBER 21–22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Voices of Latinidad</a:t>
            </a:r>
          </a:p>
          <a:p>
            <a:pPr>
              <a:lnSpc>
                <a:spcPct val="125000"/>
              </a:lnSpc>
            </a:pPr>
            <a:r>
              <a:rPr sz="1152" b="0" i="0">
                <a:solidFill>
                  <a:srgbClr val="5C6F69"/>
                </a:solidFill>
                <a:latin typeface="Inter"/>
              </a:rPr>
              <a:t>Multilingual AI talent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23" y="3933434"/>
            <a:ext cx="3389367" cy="2046726"/>
          </a:xfrm>
          <a:prstGeom prst="roundRect">
            <a:avLst>
              <a:gd name="adj" fmla="val 714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17387" y="4104121"/>
            <a:ext cx="2974840" cy="1754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NOVEMBER 18–19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Supporting Veterans</a:t>
            </a:r>
          </a:p>
          <a:p>
            <a:pPr>
              <a:lnSpc>
                <a:spcPct val="125000"/>
              </a:lnSpc>
            </a:pPr>
            <a:r>
              <a:rPr sz="1152" b="0" i="0">
                <a:solidFill>
                  <a:srgbClr val="5C6F69"/>
                </a:solidFill>
                <a:latin typeface="Inter"/>
              </a:rPr>
              <a:t>Active service &amp; military spouses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5324842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DEDICATED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048509"/>
            <a:ext cx="5324842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"Try before you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apply</a:t>
            </a:r>
            <a:r>
              <a:rPr sz="2879" b="1" i="0" spc="-86">
                <a:solidFill>
                  <a:srgbClr val="0A0A0A"/>
                </a:solidFill>
                <a:latin typeface="Inter Tight"/>
              </a:rP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1584956"/>
            <a:ext cx="5324842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Give top-tier talent an authentic glimpse into your company by featuring your own functional team members.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478" y="2267706"/>
            <a:ext cx="5324842" cy="254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78" y="2371338"/>
            <a:ext cx="60959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23" b="1" i="0">
                <a:solidFill>
                  <a:srgbClr val="0A8C66"/>
                </a:solidFill>
                <a:latin typeface="Inter T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7148" y="2383530"/>
            <a:ext cx="4520172" cy="6095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0" i="0">
                <a:solidFill>
                  <a:srgbClr val="2A2A2A"/>
                </a:solidFill>
                <a:latin typeface="Inter"/>
              </a:rPr>
              <a:t>Brand promotion — build credibility and connect with engaged leads aligned to your hiring needs.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478" y="2926072"/>
            <a:ext cx="5324842" cy="254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78" y="3029704"/>
            <a:ext cx="60959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23" b="1" i="0">
                <a:solidFill>
                  <a:srgbClr val="0A8C66"/>
                </a:solidFill>
                <a:latin typeface="Inter T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7148" y="3041896"/>
            <a:ext cx="4520172" cy="6095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0" i="0">
                <a:solidFill>
                  <a:srgbClr val="2A2A2A"/>
                </a:solidFill>
                <a:latin typeface="Inter"/>
              </a:rPr>
              <a:t>Tap the full market — convert active seekers and passive candidates into applicants who progress.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78" y="3584439"/>
            <a:ext cx="5324842" cy="254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478" y="3688070"/>
            <a:ext cx="60959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23" b="1" i="0">
                <a:solidFill>
                  <a:srgbClr val="0A8C66"/>
                </a:solidFill>
                <a:latin typeface="Inter T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7148" y="3700262"/>
            <a:ext cx="4520172" cy="6095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96" b="0" i="0">
                <a:solidFill>
                  <a:srgbClr val="2A2A2A"/>
                </a:solidFill>
                <a:latin typeface="Inter"/>
              </a:rPr>
              <a:t>Qualified &amp; engaged talent — sourced to your criteria, so conversations are worth having.</a:t>
            </a:r>
          </a:p>
        </p:txBody>
      </p:sp>
      <p:pic>
        <p:nvPicPr>
          <p:cNvPr id="14" name="Picture 13" descr="_fit-https-images-pexels-com-photos-5244032-pexels-photo-5244032-jpeg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04999" y="1031745"/>
            <a:ext cx="4794492" cy="47944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4FE8A9"/>
                </a:solidFill>
                <a:latin typeface="Inter"/>
              </a:rPr>
              <a:t>MEASURABLE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9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976" b="1" i="0" spc="-89">
                <a:solidFill>
                  <a:srgbClr val="FFFFFF"/>
                </a:solidFill>
                <a:latin typeface="Inter Tight"/>
              </a:rPr>
              <a:t>Events that convert to </a:t>
            </a:r>
            <a:r>
              <a:rPr sz="2976" b="1" i="1" spc="-89">
                <a:solidFill>
                  <a:srgbClr val="FFFFFF"/>
                </a:solidFill>
                <a:latin typeface="Inter Tight"/>
              </a:rPr>
              <a:t>hires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858585"/>
                </a:solidFill>
                <a:latin typeface="Inter"/>
              </a:rPr>
              <a:t>Best-practice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858585"/>
                </a:solidFill>
                <a:latin typeface="Inter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850862"/>
            <a:ext cx="192633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224" b="1" i="0" spc="-84">
                <a:solidFill>
                  <a:srgbClr val="4FE8A9"/>
                </a:solidFill>
                <a:latin typeface="Inter Tight"/>
              </a:rPr>
              <a:t>1,000+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436077"/>
            <a:ext cx="1926331" cy="414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44" b="0" i="0">
                <a:solidFill>
                  <a:srgbClr val="CFCFCF"/>
                </a:solidFill>
                <a:latin typeface="Inter"/>
              </a:rPr>
              <a:t>Top-of-funnel promotion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2648" y="1850862"/>
            <a:ext cx="192633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224" b="1" i="0" spc="-84">
                <a:solidFill>
                  <a:srgbClr val="4FE8A9"/>
                </a:solidFill>
                <a:latin typeface="Inter Tight"/>
              </a:rPr>
              <a:t>50–200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2648" y="2436077"/>
            <a:ext cx="1926331" cy="414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44" b="0" i="0">
                <a:solidFill>
                  <a:srgbClr val="CFCFCF"/>
                </a:solidFill>
                <a:latin typeface="Inter"/>
              </a:rPr>
              <a:t>RSVPs per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2819" y="1850862"/>
            <a:ext cx="192633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224" b="1" i="0" spc="-84">
                <a:solidFill>
                  <a:srgbClr val="4FE8A9"/>
                </a:solidFill>
                <a:latin typeface="Inter Tight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2819" y="2436077"/>
            <a:ext cx="1926331" cy="414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44" b="0" i="0">
                <a:solidFill>
                  <a:srgbClr val="CFCFCF"/>
                </a:solidFill>
                <a:latin typeface="Inter"/>
              </a:rPr>
              <a:t>Average attendance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2989" y="1850862"/>
            <a:ext cx="192633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224" b="1" i="0" spc="-84">
                <a:solidFill>
                  <a:srgbClr val="4FE8A9"/>
                </a:solidFill>
                <a:latin typeface="Inter Tight"/>
              </a:rPr>
              <a:t>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2989" y="2436077"/>
            <a:ext cx="1926331" cy="414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44" b="0" i="0">
                <a:solidFill>
                  <a:srgbClr val="CFCFCF"/>
                </a:solidFill>
                <a:latin typeface="Inter"/>
              </a:rPr>
              <a:t>Average increase in interest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60" y="1850862"/>
            <a:ext cx="1926331" cy="65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224" b="1" i="0" spc="-84">
                <a:solidFill>
                  <a:srgbClr val="4FE8A9"/>
                </a:solidFill>
                <a:latin typeface="Inter Tight"/>
              </a:rPr>
              <a:t>3–5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3160" y="2436077"/>
            <a:ext cx="1926331" cy="414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44" b="0" i="0">
                <a:solidFill>
                  <a:srgbClr val="CFCFCF"/>
                </a:solidFill>
                <a:latin typeface="Inter"/>
              </a:rPr>
              <a:t>Hires made per event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EMPLOYER BRAND VIDEOS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Show candidates the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team</a:t>
            </a:r>
            <a:r>
              <a:rPr sz="2879" b="1" i="0" spc="-86">
                <a:solidFill>
                  <a:srgbClr val="0A0A0A"/>
                </a:solidFill>
                <a:latin typeface="Inter Tight"/>
              </a:rPr>
              <a:t> behind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Promoted on your company page, blog, LinkedIn, and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17</a:t>
            </a:r>
          </a:p>
        </p:txBody>
      </p:sp>
      <p:pic>
        <p:nvPicPr>
          <p:cNvPr id="6" name="Picture 5" descr="_fit-https-images-pexels-com-photos-4226140-pexels-photo-4226140-jpeg.jpg"/>
          <p:cNvPicPr>
            <a:picLocks noChangeAspect="1"/>
          </p:cNvPicPr>
          <p:nvPr/>
        </p:nvPicPr>
        <p:blipFill>
          <a:blip r:embed="rId2"/>
          <a:srcRect l="25" r="25"/>
          <a:stretch>
            <a:fillRect/>
          </a:stretch>
        </p:blipFill>
        <p:spPr>
          <a:xfrm>
            <a:off x="792478" y="1716019"/>
            <a:ext cx="5120627" cy="288035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3047992" y="2851396"/>
            <a:ext cx="609598" cy="60959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3255255" y="3034276"/>
            <a:ext cx="219455" cy="243839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78" y="4754868"/>
            <a:ext cx="5120627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20" b="1" i="0" spc="-19">
                <a:solidFill>
                  <a:srgbClr val="0A0A0A"/>
                </a:solidFill>
                <a:latin typeface="Inter Tight"/>
              </a:rPr>
              <a:t>Meet the recruiter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5108435"/>
            <a:ext cx="5120627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2000"/>
              </a:lnSpc>
            </a:pPr>
            <a:r>
              <a:rPr sz="1296" b="0" i="0">
                <a:solidFill>
                  <a:srgbClr val="2A2A2A"/>
                </a:solidFill>
                <a:latin typeface="Inter"/>
              </a:rPr>
              <a:t>Demystify your application process and build immediate rapport with active talent pools.</a:t>
            </a:r>
          </a:p>
        </p:txBody>
      </p:sp>
      <p:pic>
        <p:nvPicPr>
          <p:cNvPr id="11" name="Picture 10" descr="_fit-https-images-pexels-com-photos-3184338-pexels-photo-3184338-jpeg.jpg"/>
          <p:cNvPicPr>
            <a:picLocks noChangeAspect="1"/>
          </p:cNvPicPr>
          <p:nvPr/>
        </p:nvPicPr>
        <p:blipFill>
          <a:blip r:embed="rId3"/>
          <a:srcRect l="25" r="25"/>
          <a:stretch>
            <a:fillRect/>
          </a:stretch>
        </p:blipFill>
        <p:spPr>
          <a:xfrm>
            <a:off x="6278864" y="1716019"/>
            <a:ext cx="5120627" cy="2880352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8534378" y="2851396"/>
            <a:ext cx="609598" cy="60959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8741642" y="3034276"/>
            <a:ext cx="219455" cy="243839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864" y="4754868"/>
            <a:ext cx="5120627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20" b="1" i="0" spc="-19">
                <a:solidFill>
                  <a:srgbClr val="0A0A0A"/>
                </a:solidFill>
                <a:latin typeface="Inter Tight"/>
              </a:rPr>
              <a:t>Inside the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864" y="5108435"/>
            <a:ext cx="5120627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2000"/>
              </a:lnSpc>
            </a:pPr>
            <a:r>
              <a:rPr sz="1296" b="0" i="0">
                <a:solidFill>
                  <a:srgbClr val="2A2A2A"/>
                </a:solidFill>
                <a:latin typeface="Inter"/>
              </a:rPr>
              <a:t>An authentic glimpse into company culture and functional day-to-day life.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fit-https-images-pexels-com-photos-5673488-pexels-photo-5673488-jpeg.jpg"/>
          <p:cNvPicPr>
            <a:picLocks noChangeAspect="1"/>
          </p:cNvPicPr>
          <p:nvPr/>
        </p:nvPicPr>
        <p:blipFill>
          <a:blip r:embed="rId2"/>
          <a:srcRect l="20000" r="20000"/>
          <a:stretch>
            <a:fillRect/>
          </a:stretch>
        </p:blipFill>
        <p:spPr>
          <a:xfrm>
            <a:off x="4876787" y="0"/>
            <a:ext cx="7315181" cy="68579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76787" y="0"/>
            <a:ext cx="7315181" cy="6857982"/>
          </a:xfrm>
          <a:prstGeom prst="rect">
            <a:avLst/>
          </a:prstGeom>
          <a:gradFill rotWithShape="1">
            <a:gsLst>
              <a:gs pos="0">
                <a:srgbClr val="0A0A0A">
                  <a:alpha val="100000"/>
                </a:srgbClr>
              </a:gs>
              <a:gs pos="22000">
                <a:srgbClr val="0A0A0A">
                  <a:alpha val="72000"/>
                </a:srgbClr>
              </a:gs>
              <a:gs pos="60000">
                <a:srgbClr val="0A0A0A">
                  <a:alpha val="28000"/>
                </a:srgbClr>
              </a:gs>
              <a:gs pos="100000">
                <a:srgbClr val="0A0A0A">
                  <a:alpha val="12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4FE8A9"/>
                </a:solidFill>
                <a:latin typeface="Inter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2941312"/>
            <a:ext cx="4632948" cy="853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</a:pPr>
            <a:r>
              <a:rPr sz="4800" b="1" i="0" spc="-144">
                <a:solidFill>
                  <a:srgbClr val="FFFFFF"/>
                </a:solidFill>
                <a:latin typeface="Inter Tight"/>
              </a:rPr>
              <a:t>Case studies &amp; </a:t>
            </a:r>
            <a:r>
              <a:rPr sz="4800" b="1" i="1" spc="-144">
                <a:solidFill>
                  <a:srgbClr val="FFFFFF"/>
                </a:solidFill>
                <a:latin typeface="Inter Tight"/>
              </a:rPr>
              <a:t>testimonials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3886190"/>
            <a:ext cx="3901430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632" b="0" i="0">
                <a:solidFill>
                  <a:srgbClr val="CFCFCF"/>
                </a:solidFill>
                <a:latin typeface="Inter"/>
              </a:rPr>
              <a:t>Real engagements, real numbers, and the people who hired with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858585"/>
                </a:solidFill>
                <a:latin typeface="Inter"/>
              </a:rPr>
              <a:t>PowerToFly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85858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CLIENT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87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64" b="1" i="0" spc="-97">
                <a:solidFill>
                  <a:srgbClr val="0A0A0A"/>
                </a:solidFill>
                <a:latin typeface="Inter Tight"/>
              </a:rPr>
              <a:t>Results that speak for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Replace with verified client data before presenting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78" y="1743329"/>
            <a:ext cx="3324343" cy="4236831"/>
          </a:xfrm>
          <a:prstGeom prst="roundRect">
            <a:avLst>
              <a:gd name="adj" fmla="val 5134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0701" y="2011553"/>
            <a:ext cx="2787897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20" b="1" i="0">
                <a:solidFill>
                  <a:srgbClr val="0A0A0A"/>
                </a:solidFill>
                <a:latin typeface="Inter Tight"/>
              </a:rPr>
              <a:t>Zapier</a:t>
            </a:r>
          </a:p>
          <a:p>
            <a:pPr>
              <a:lnSpc>
                <a:spcPct val="130000"/>
              </a:lnSpc>
            </a:pPr>
            <a:r>
              <a:rPr sz="1056" b="0" i="0">
                <a:solidFill>
                  <a:srgbClr val="5C6F69"/>
                </a:solidFill>
                <a:latin typeface="Inter"/>
              </a:rPr>
              <a:t>ML Engineers · Data Scientists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1" y="2767455"/>
            <a:ext cx="73151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0A8C66"/>
                </a:solidFill>
                <a:latin typeface="Inter Tight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0987" y="2828415"/>
            <a:ext cx="225145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hires placed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1" y="3181982"/>
            <a:ext cx="73151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0A8C66"/>
                </a:solidFill>
                <a:latin typeface="Inter Tight"/>
              </a:rPr>
              <a:t>3 wk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0987" y="3242941"/>
            <a:ext cx="225145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avg. time to hire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1" y="3596509"/>
            <a:ext cx="73151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0A8C66"/>
                </a:solidFill>
                <a:latin typeface="Inter Tight"/>
              </a:rPr>
              <a:t>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0987" y="3657468"/>
            <a:ext cx="225145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retention at 1 yr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3812" y="1743329"/>
            <a:ext cx="3324343" cy="4236831"/>
          </a:xfrm>
          <a:prstGeom prst="roundRect">
            <a:avLst>
              <a:gd name="adj" fmla="val 5134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2036" y="2011553"/>
            <a:ext cx="2787897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20" b="1" i="0">
                <a:solidFill>
                  <a:srgbClr val="0A0A0A"/>
                </a:solidFill>
                <a:latin typeface="Inter Tight"/>
              </a:rPr>
              <a:t>Moody's</a:t>
            </a:r>
          </a:p>
          <a:p>
            <a:pPr>
              <a:lnSpc>
                <a:spcPct val="130000"/>
              </a:lnSpc>
            </a:pPr>
            <a:r>
              <a:rPr sz="1056" b="0" i="0">
                <a:solidFill>
                  <a:srgbClr val="5C6F69"/>
                </a:solidFill>
                <a:latin typeface="Inter"/>
              </a:rPr>
              <a:t>AI Analysts · Prompt Engineers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2036" y="2767455"/>
            <a:ext cx="73151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0A8C66"/>
                </a:solidFill>
                <a:latin typeface="Inter Tight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2322" y="2828415"/>
            <a:ext cx="225145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specialists placed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2036" y="3181982"/>
            <a:ext cx="73151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0A8C66"/>
                </a:solidFill>
                <a:latin typeface="Inter Tigh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2322" y="3242941"/>
            <a:ext cx="225145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verticals in parallel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2036" y="3596509"/>
            <a:ext cx="73151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0A8C66"/>
                </a:solidFill>
                <a:latin typeface="Inter Tight"/>
              </a:rPr>
              <a:t>4 wk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2322" y="3657468"/>
            <a:ext cx="225145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to first hire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5147" y="1743329"/>
            <a:ext cx="3324343" cy="4236831"/>
          </a:xfrm>
          <a:prstGeom prst="roundRect">
            <a:avLst>
              <a:gd name="adj" fmla="val 5134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43371" y="2011553"/>
            <a:ext cx="2787897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20" b="1" i="0">
                <a:solidFill>
                  <a:srgbClr val="0A0A0A"/>
                </a:solidFill>
                <a:latin typeface="Inter Tight"/>
              </a:rPr>
              <a:t>Deloitte</a:t>
            </a:r>
          </a:p>
          <a:p>
            <a:pPr>
              <a:lnSpc>
                <a:spcPct val="130000"/>
              </a:lnSpc>
            </a:pPr>
            <a:r>
              <a:rPr sz="1056" b="0" i="0">
                <a:solidFill>
                  <a:srgbClr val="5C6F69"/>
                </a:solidFill>
                <a:latin typeface="Inter"/>
              </a:rPr>
              <a:t>AI PMs · LLM Engineers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3371" y="2767455"/>
            <a:ext cx="73151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0A8C66"/>
                </a:solidFill>
                <a:latin typeface="Inter Tight"/>
              </a:rPr>
              <a:t>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657" y="2828415"/>
            <a:ext cx="225145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candidates screened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371" y="3181982"/>
            <a:ext cx="73151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0A8C66"/>
                </a:solidFill>
                <a:latin typeface="Inter Tight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3657" y="3242941"/>
            <a:ext cx="225145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hires, 3 practices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3371" y="3596509"/>
            <a:ext cx="731518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16" b="1" i="0">
                <a:solidFill>
                  <a:srgbClr val="0A8C66"/>
                </a:solidFill>
                <a:latin typeface="Inter Tight"/>
              </a:rPr>
              <a:t>6 wk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3657" y="3657468"/>
            <a:ext cx="225145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ramp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FROM THE PEOPLE WHO HIRED WITH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42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84" b="1" i="0" spc="-83">
                <a:solidFill>
                  <a:srgbClr val="0A0A0A"/>
                </a:solidFill>
                <a:latin typeface="Inter Tight"/>
              </a:rPr>
              <a:t>Trusted by talent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78" y="1678712"/>
            <a:ext cx="5145011" cy="2028804"/>
          </a:xfrm>
          <a:prstGeom prst="roundRect">
            <a:avLst>
              <a:gd name="adj" fmla="val 8413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0701" y="1922551"/>
            <a:ext cx="4608564" cy="1541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2" b="0" i="0" spc="138">
                <a:solidFill>
                  <a:srgbClr val="0A8C66"/>
                </a:solidFill>
                <a:latin typeface="Inter"/>
              </a:rPr>
              <a:t>★★★★★</a:t>
            </a:r>
          </a:p>
          <a:p>
            <a:pPr>
              <a:lnSpc>
                <a:spcPct val="145000"/>
              </a:lnSpc>
            </a:pPr>
            <a:r>
              <a:rPr sz="1296" b="0" i="0">
                <a:solidFill>
                  <a:srgbClr val="0A0A0A"/>
                </a:solidFill>
                <a:latin typeface="Inter"/>
              </a:rPr>
              <a:t>"PowerToFly has connected us with exceptional talent around the world, and their events have expanded our reach to representative talent."</a:t>
            </a:r>
          </a:p>
          <a:p>
            <a:pPr>
              <a:lnSpc>
                <a:spcPct val="130000"/>
              </a:lnSpc>
            </a:pPr>
            <a:r>
              <a:rPr sz="1056" b="0" i="0">
                <a:solidFill>
                  <a:srgbClr val="5C6F69"/>
                </a:solidFill>
                <a:latin typeface="Inter"/>
              </a:rPr>
              <a:t>Kimberly W. · Head of Talent Attraction, Zapier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80" y="1678712"/>
            <a:ext cx="5145011" cy="2028804"/>
          </a:xfrm>
          <a:prstGeom prst="roundRect">
            <a:avLst>
              <a:gd name="adj" fmla="val 8413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22703" y="1922551"/>
            <a:ext cx="4608564" cy="1541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2" b="0" i="0" spc="138">
                <a:solidFill>
                  <a:srgbClr val="0A8C66"/>
                </a:solidFill>
                <a:latin typeface="Inter"/>
              </a:rPr>
              <a:t>★★★★★</a:t>
            </a:r>
          </a:p>
          <a:p>
            <a:pPr>
              <a:lnSpc>
                <a:spcPct val="145000"/>
              </a:lnSpc>
            </a:pPr>
            <a:r>
              <a:rPr sz="1296" b="0" i="0">
                <a:solidFill>
                  <a:srgbClr val="0A0A0A"/>
                </a:solidFill>
                <a:latin typeface="Inter"/>
              </a:rPr>
              <a:t>"The proactivity of the team goes above and beyond. I can trust that the quality of work delivery will always be great and I'll have their support."</a:t>
            </a:r>
          </a:p>
          <a:p>
            <a:pPr>
              <a:lnSpc>
                <a:spcPct val="130000"/>
              </a:lnSpc>
            </a:pPr>
            <a:r>
              <a:rPr sz="1056" b="0" i="0">
                <a:solidFill>
                  <a:srgbClr val="5C6F69"/>
                </a:solidFill>
                <a:latin typeface="Inter"/>
              </a:rPr>
              <a:t>Mayra M. · Global TA Lead, RebelMouse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478" y="3951356"/>
            <a:ext cx="5145011" cy="2028804"/>
          </a:xfrm>
          <a:prstGeom prst="roundRect">
            <a:avLst>
              <a:gd name="adj" fmla="val 8413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60701" y="4195195"/>
            <a:ext cx="4608564" cy="1541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2" b="0" i="0" spc="138">
                <a:solidFill>
                  <a:srgbClr val="0A8C66"/>
                </a:solidFill>
                <a:latin typeface="Inter"/>
              </a:rPr>
              <a:t>★★★★★</a:t>
            </a:r>
          </a:p>
          <a:p>
            <a:pPr>
              <a:lnSpc>
                <a:spcPct val="145000"/>
              </a:lnSpc>
            </a:pPr>
            <a:r>
              <a:rPr sz="1296" b="0" i="0">
                <a:solidFill>
                  <a:srgbClr val="0A0A0A"/>
                </a:solidFill>
                <a:latin typeface="Inter"/>
              </a:rPr>
              <a:t>"Such solid support — not just in hiring but in keeping candidates warm for future opportunities. They work with you like they're part of your org."</a:t>
            </a:r>
          </a:p>
          <a:p>
            <a:pPr>
              <a:lnSpc>
                <a:spcPct val="130000"/>
              </a:lnSpc>
            </a:pPr>
            <a:r>
              <a:rPr sz="1056" b="0" i="0">
                <a:solidFill>
                  <a:srgbClr val="5C6F69"/>
                </a:solidFill>
                <a:latin typeface="Inter"/>
              </a:rPr>
              <a:t>Navjyot K. · Global Talent Lead, SoftwareOne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80" y="3951356"/>
            <a:ext cx="5145011" cy="2028804"/>
          </a:xfrm>
          <a:prstGeom prst="roundRect">
            <a:avLst>
              <a:gd name="adj" fmla="val 8413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22703" y="4195195"/>
            <a:ext cx="4608564" cy="1541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2" b="0" i="0" spc="138">
                <a:solidFill>
                  <a:srgbClr val="0A8C66"/>
                </a:solidFill>
                <a:latin typeface="Inter"/>
              </a:rPr>
              <a:t>★★★★★</a:t>
            </a:r>
          </a:p>
          <a:p>
            <a:pPr>
              <a:lnSpc>
                <a:spcPct val="145000"/>
              </a:lnSpc>
            </a:pPr>
            <a:r>
              <a:rPr sz="1296" b="0" i="0">
                <a:solidFill>
                  <a:srgbClr val="0A0A0A"/>
                </a:solidFill>
                <a:latin typeface="Inter"/>
              </a:rPr>
              <a:t>"We have made fantastic hires as a result of our partnership. The breadth of candidate reach and benchmarking are why we partner with PTF."</a:t>
            </a:r>
          </a:p>
          <a:p>
            <a:pPr>
              <a:lnSpc>
                <a:spcPct val="130000"/>
              </a:lnSpc>
            </a:pPr>
            <a:r>
              <a:rPr sz="1056" b="0" i="0">
                <a:solidFill>
                  <a:srgbClr val="5C6F69"/>
                </a:solidFill>
                <a:latin typeface="Inter"/>
              </a:rPr>
              <a:t>Roberta S. · Global TA Lead, Collins Aerospace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TRUSTED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87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64" b="1" i="0" spc="-97">
                <a:solidFill>
                  <a:srgbClr val="0A0A0A"/>
                </a:solidFill>
                <a:latin typeface="Inter Tight"/>
              </a:rPr>
              <a:t>Teams building AI with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Logos to be dropped in from the brand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78" y="1901825"/>
            <a:ext cx="2432297" cy="853437"/>
          </a:xfrm>
          <a:prstGeom prst="roundRect">
            <a:avLst>
              <a:gd name="adj" fmla="val 17142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48" b="1" i="0">
                <a:solidFill>
                  <a:srgbClr val="5C6F69"/>
                </a:solidFill>
                <a:latin typeface="Inter"/>
              </a:rPr>
              <a:t>Zapier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7383" y="1901825"/>
            <a:ext cx="2432297" cy="853437"/>
          </a:xfrm>
          <a:prstGeom prst="roundRect">
            <a:avLst>
              <a:gd name="adj" fmla="val 17142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48" b="1" i="0">
                <a:solidFill>
                  <a:srgbClr val="5C6F69"/>
                </a:solidFill>
                <a:latin typeface="Inter"/>
              </a:rPr>
              <a:t>Moody's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2288" y="1901825"/>
            <a:ext cx="2432297" cy="853437"/>
          </a:xfrm>
          <a:prstGeom prst="roundRect">
            <a:avLst>
              <a:gd name="adj" fmla="val 17142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48" b="1" i="0">
                <a:solidFill>
                  <a:srgbClr val="5C6F69"/>
                </a:solidFill>
                <a:latin typeface="Inter"/>
              </a:rPr>
              <a:t>Deloitte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7193" y="1901825"/>
            <a:ext cx="2432297" cy="853437"/>
          </a:xfrm>
          <a:prstGeom prst="roundRect">
            <a:avLst>
              <a:gd name="adj" fmla="val 17142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48" b="1" i="0">
                <a:solidFill>
                  <a:srgbClr val="5C6F69"/>
                </a:solidFill>
                <a:latin typeface="Inter"/>
              </a:rPr>
              <a:t>Visa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478" y="3047870"/>
            <a:ext cx="2432297" cy="853437"/>
          </a:xfrm>
          <a:prstGeom prst="roundRect">
            <a:avLst>
              <a:gd name="adj" fmla="val 17142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48" b="1" i="0">
                <a:solidFill>
                  <a:srgbClr val="5C6F69"/>
                </a:solidFill>
                <a:latin typeface="Inter"/>
              </a:rPr>
              <a:t>RebelMouse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7383" y="3047870"/>
            <a:ext cx="2432297" cy="853437"/>
          </a:xfrm>
          <a:prstGeom prst="roundRect">
            <a:avLst>
              <a:gd name="adj" fmla="val 17142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48" b="1" i="0">
                <a:solidFill>
                  <a:srgbClr val="5C6F69"/>
                </a:solidFill>
                <a:latin typeface="Inter"/>
              </a:rPr>
              <a:t>SoftwareOne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2288" y="3047870"/>
            <a:ext cx="2432297" cy="853437"/>
          </a:xfrm>
          <a:prstGeom prst="roundRect">
            <a:avLst>
              <a:gd name="adj" fmla="val 17142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48" b="1" i="0">
                <a:solidFill>
                  <a:srgbClr val="5C6F69"/>
                </a:solidFill>
                <a:latin typeface="Inter"/>
              </a:rPr>
              <a:t>Collins Aerospace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7193" y="3047870"/>
            <a:ext cx="2432297" cy="853437"/>
          </a:xfrm>
          <a:prstGeom prst="roundRect">
            <a:avLst>
              <a:gd name="adj" fmla="val 17142"/>
            </a:avLst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48" b="1" i="0">
                <a:solidFill>
                  <a:srgbClr val="5C6F69"/>
                </a:solidFill>
                <a:latin typeface="Inter"/>
              </a:rPr>
              <a:t>Thomson Reuters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fit-https-images-pexels-com-photos-7681091-pexels-photo-7681091-jpeg.jpg"/>
          <p:cNvPicPr>
            <a:picLocks noChangeAspect="1"/>
          </p:cNvPicPr>
          <p:nvPr/>
        </p:nvPicPr>
        <p:blipFill>
          <a:blip r:embed="rId2"/>
          <a:srcRect l="20000" r="20000"/>
          <a:stretch>
            <a:fillRect/>
          </a:stretch>
        </p:blipFill>
        <p:spPr>
          <a:xfrm>
            <a:off x="4876787" y="0"/>
            <a:ext cx="7315181" cy="68579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76787" y="0"/>
            <a:ext cx="7315181" cy="6857982"/>
          </a:xfrm>
          <a:prstGeom prst="rect">
            <a:avLst/>
          </a:prstGeom>
          <a:gradFill rotWithShape="1">
            <a:gsLst>
              <a:gs pos="0">
                <a:srgbClr val="0A0A0A">
                  <a:alpha val="100000"/>
                </a:srgbClr>
              </a:gs>
              <a:gs pos="22000">
                <a:srgbClr val="0A0A0A">
                  <a:alpha val="72000"/>
                </a:srgbClr>
              </a:gs>
              <a:gs pos="60000">
                <a:srgbClr val="0A0A0A">
                  <a:alpha val="28000"/>
                </a:srgbClr>
              </a:gs>
              <a:gs pos="100000">
                <a:srgbClr val="0A0A0A">
                  <a:alpha val="12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4FE8A9"/>
                </a:solidFill>
                <a:latin typeface="Inter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2902298"/>
            <a:ext cx="4632948" cy="921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</a:pPr>
            <a:r>
              <a:rPr sz="5184" b="1" i="0" spc="-155">
                <a:solidFill>
                  <a:srgbClr val="FFFFFF"/>
                </a:solidFill>
                <a:latin typeface="Inter Tight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3922766"/>
            <a:ext cx="3901430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632" b="0" i="0">
                <a:solidFill>
                  <a:srgbClr val="CFCFCF"/>
                </a:solidFill>
                <a:latin typeface="Inter"/>
              </a:rPr>
              <a:t>Flexible models across talent acquisition services and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858585"/>
                </a:solidFill>
                <a:latin typeface="Inter"/>
              </a:rPr>
              <a:t>PowerToFly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858585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87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64" b="1" i="0" spc="-97">
                <a:solidFill>
                  <a:srgbClr val="0A0A0A"/>
                </a:solidFill>
                <a:latin typeface="Inter Tight"/>
              </a:rPr>
              <a:t>Flexible engagement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78" y="1743329"/>
            <a:ext cx="3340599" cy="4236831"/>
          </a:xfrm>
          <a:prstGeom prst="roundRect">
            <a:avLst>
              <a:gd name="adj" fmla="val 5109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6317" y="2011553"/>
            <a:ext cx="2852920" cy="3749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RECRUITER AS A SERVICE</a:t>
            </a:r>
          </a:p>
          <a:p>
            <a:pPr>
              <a:lnSpc>
                <a:spcPct val="110000"/>
              </a:lnSpc>
            </a:pPr>
            <a:r>
              <a:rPr sz="1823" b="1" i="0">
                <a:solidFill>
                  <a:srgbClr val="0A0A0A"/>
                </a:solidFill>
                <a:latin typeface="Inter Tight"/>
              </a:rPr>
              <a:t>Dedicated capacity</a:t>
            </a:r>
          </a:p>
          <a:p>
            <a:pPr>
              <a:lnSpc>
                <a:spcPct val="135000"/>
              </a:lnSpc>
            </a:pPr>
            <a:r>
              <a:rPr sz="1104" b="0" i="0">
                <a:solidFill>
                  <a:srgbClr val="5C6F69"/>
                </a:solidFill>
                <a:latin typeface="Inter"/>
              </a:rPr>
              <a:t>No placement fees. Sourcing, screening, candidate management, delivery.</a:t>
            </a:r>
          </a:p>
          <a:p>
            <a:pPr>
              <a:lnSpc>
                <a:spcPct val="140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Dedicated partner · up to 5 roles   </a:t>
            </a:r>
            <a:r>
              <a:rPr sz="1152" b="1" i="0">
                <a:solidFill>
                  <a:srgbClr val="0A8C66"/>
                </a:solidFill>
                <a:latin typeface="Inter Tight"/>
              </a:rPr>
              <a:t>$15,000/mo</a:t>
            </a:r>
          </a:p>
          <a:p>
            <a:pPr>
              <a:lnSpc>
                <a:spcPct val="140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Part-time partner · up to 2 roles   </a:t>
            </a:r>
            <a:r>
              <a:rPr sz="1152" b="1" i="0">
                <a:solidFill>
                  <a:srgbClr val="0A8C66"/>
                </a:solidFill>
                <a:latin typeface="Inter Tight"/>
              </a:rPr>
              <a:t>$7,000/mo</a:t>
            </a:r>
          </a:p>
          <a:p>
            <a:pPr>
              <a:lnSpc>
                <a:spcPct val="130000"/>
              </a:lnSpc>
            </a:pPr>
            <a:r>
              <a:rPr sz="960" b="0" i="0">
                <a:solidFill>
                  <a:srgbClr val="5C6F69"/>
                </a:solidFill>
                <a:latin typeface="Inter"/>
              </a:rPr>
              <a:t>Three-month minimum. Senior Manager level &amp; below.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84" y="1743329"/>
            <a:ext cx="3340599" cy="4236831"/>
          </a:xfrm>
          <a:prstGeom prst="roundRect">
            <a:avLst>
              <a:gd name="adj" fmla="val 5109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69524" y="2011553"/>
            <a:ext cx="2852920" cy="3749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RETAINED SEARCH</a:t>
            </a:r>
          </a:p>
          <a:p>
            <a:pPr>
              <a:lnSpc>
                <a:spcPct val="110000"/>
              </a:lnSpc>
            </a:pPr>
            <a:r>
              <a:rPr sz="1823" b="1" i="0">
                <a:solidFill>
                  <a:srgbClr val="0A0A0A"/>
                </a:solidFill>
                <a:latin typeface="Inter Tight"/>
              </a:rPr>
              <a:t>Strategic permanent hires</a:t>
            </a:r>
          </a:p>
          <a:p>
            <a:pPr>
              <a:lnSpc>
                <a:spcPct val="135000"/>
              </a:lnSpc>
            </a:pPr>
            <a:r>
              <a:rPr sz="1104" b="0" i="0">
                <a:solidFill>
                  <a:srgbClr val="5C6F69"/>
                </a:solidFill>
                <a:latin typeface="Inter"/>
              </a:rPr>
              <a:t>Dedicated search for the roles that shape the org.</a:t>
            </a:r>
          </a:p>
          <a:p>
            <a:pPr>
              <a:lnSpc>
                <a:spcPct val="140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Executive · Director &amp; above   </a:t>
            </a:r>
            <a:r>
              <a:rPr sz="1152" b="1" i="0">
                <a:solidFill>
                  <a:srgbClr val="0A8C66"/>
                </a:solidFill>
                <a:latin typeface="Inter Tight"/>
              </a:rPr>
              <a:t>30%</a:t>
            </a:r>
          </a:p>
          <a:p>
            <a:pPr>
              <a:lnSpc>
                <a:spcPct val="140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Sr. Manager &amp; below   </a:t>
            </a:r>
            <a:r>
              <a:rPr sz="1152" b="1" i="0">
                <a:solidFill>
                  <a:srgbClr val="0A8C66"/>
                </a:solidFill>
                <a:latin typeface="Inter Tight"/>
              </a:rPr>
              <a:t>20%</a:t>
            </a:r>
          </a:p>
          <a:p>
            <a:pPr>
              <a:lnSpc>
                <a:spcPct val="130000"/>
              </a:lnSpc>
            </a:pPr>
            <a:r>
              <a:rPr sz="960" b="0" i="0">
                <a:solidFill>
                  <a:srgbClr val="5C6F69"/>
                </a:solidFill>
                <a:latin typeface="Inter"/>
              </a:rPr>
              <a:t>Of total first-year compensation. ⅓ at initiation · ⅓ at shortlist · balance on placement.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891" y="1743329"/>
            <a:ext cx="3340599" cy="4236831"/>
          </a:xfrm>
          <a:prstGeom prst="roundRect">
            <a:avLst>
              <a:gd name="adj" fmla="val 5109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02731" y="2011553"/>
            <a:ext cx="2852920" cy="3749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STAFF AUGMENTATION</a:t>
            </a:r>
          </a:p>
          <a:p>
            <a:pPr>
              <a:lnSpc>
                <a:spcPct val="110000"/>
              </a:lnSpc>
            </a:pPr>
            <a:r>
              <a:rPr sz="1823" b="1" i="0">
                <a:solidFill>
                  <a:srgbClr val="0A0A0A"/>
                </a:solidFill>
                <a:latin typeface="Inter Tight"/>
              </a:rPr>
              <a:t>Flexible expertise</a:t>
            </a:r>
          </a:p>
          <a:p>
            <a:pPr>
              <a:lnSpc>
                <a:spcPct val="135000"/>
              </a:lnSpc>
            </a:pPr>
            <a:r>
              <a:rPr sz="1104" b="0" i="0">
                <a:solidFill>
                  <a:srgbClr val="5C6F69"/>
                </a:solidFill>
                <a:latin typeface="Inter"/>
              </a:rPr>
              <a:t>Expertise without a permanent hire.</a:t>
            </a:r>
          </a:p>
          <a:p>
            <a:pPr>
              <a:lnSpc>
                <a:spcPct val="140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AI trainers &amp; evaluators   </a:t>
            </a:r>
            <a:r>
              <a:rPr sz="1152" b="1" i="0">
                <a:solidFill>
                  <a:srgbClr val="0A8C66"/>
                </a:solidFill>
                <a:latin typeface="Inter Tight"/>
              </a:rPr>
              <a:t>$50+/hr</a:t>
            </a:r>
          </a:p>
          <a:p>
            <a:pPr>
              <a:lnSpc>
                <a:spcPct val="140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AI &amp; technical specialists   </a:t>
            </a:r>
            <a:r>
              <a:rPr sz="1152" b="1" i="0">
                <a:solidFill>
                  <a:srgbClr val="0A8C66"/>
                </a:solidFill>
                <a:latin typeface="Inter Tight"/>
              </a:rPr>
              <a:t>$100+/hr</a:t>
            </a:r>
          </a:p>
          <a:p>
            <a:pPr>
              <a:lnSpc>
                <a:spcPct val="140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Domain experts   </a:t>
            </a:r>
            <a:r>
              <a:rPr sz="1152" b="1" i="0">
                <a:solidFill>
                  <a:srgbClr val="0A8C66"/>
                </a:solidFill>
                <a:latin typeface="Inter Tight"/>
              </a:rPr>
              <a:t>$100+/hr</a:t>
            </a:r>
          </a:p>
          <a:p>
            <a:pPr>
              <a:lnSpc>
                <a:spcPct val="140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Fractional leaders   </a:t>
            </a:r>
            <a:r>
              <a:rPr sz="1152" b="1" i="0">
                <a:solidFill>
                  <a:srgbClr val="0A8C66"/>
                </a:solidFill>
                <a:latin typeface="Inter Tight"/>
              </a:rPr>
              <a:t>$200+/hr</a:t>
            </a:r>
          </a:p>
          <a:p>
            <a:pPr>
              <a:lnSpc>
                <a:spcPct val="130000"/>
              </a:lnSpc>
            </a:pPr>
            <a:r>
              <a:rPr sz="960" b="0" i="0">
                <a:solidFill>
                  <a:srgbClr val="5C6F69"/>
                </a:solidFill>
                <a:latin typeface="Inter"/>
              </a:rPr>
              <a:t>Rates vary by role, experience, location. 20% buy-out to convert to FTE · $499 retainer per req.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EVENT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81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072" b="1" i="0" spc="-92">
                <a:solidFill>
                  <a:srgbClr val="0A0A0A"/>
                </a:solidFill>
                <a:latin typeface="Inter Tight"/>
              </a:rPr>
              <a:t>Event &amp; campaign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Growth &lt;10,000 employees · Enterprise &gt;10,000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78" y="1668714"/>
            <a:ext cx="3340599" cy="4311446"/>
          </a:xfrm>
          <a:prstGeom prst="roundRect">
            <a:avLst>
              <a:gd name="adj" fmla="val 5109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6317" y="1936938"/>
            <a:ext cx="2852920" cy="3823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AWARENESS + HIRING</a:t>
            </a:r>
          </a:p>
          <a:p>
            <a:pPr>
              <a:lnSpc>
                <a:spcPct val="110000"/>
              </a:lnSpc>
            </a:pPr>
            <a:r>
              <a:rPr sz="1823" b="1" i="0">
                <a:solidFill>
                  <a:srgbClr val="0A0A0A"/>
                </a:solidFill>
                <a:latin typeface="Inter Tight"/>
              </a:rPr>
              <a:t>Multi-sponsor virtual job fair</a:t>
            </a:r>
          </a:p>
          <a:p>
            <a:r>
              <a:rPr sz="1823" b="1" i="0">
                <a:solidFill>
                  <a:srgbClr val="0A8C66"/>
                </a:solidFill>
                <a:latin typeface="Inter Tight"/>
              </a:rPr>
              <a:t>$12,000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Live 2-hour event, main stage &amp; breakouts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Unlimited job postings &amp; featured page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Targeted AI candidate outreach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500–1,000 segmented leads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Campaign performance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84" y="1668714"/>
            <a:ext cx="3340599" cy="4311446"/>
          </a:xfrm>
          <a:prstGeom prst="roundRect">
            <a:avLst>
              <a:gd name="adj" fmla="val 5109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69524" y="1936938"/>
            <a:ext cx="2852920" cy="3823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HIRES · INVITE-ONLY</a:t>
            </a:r>
          </a:p>
          <a:p>
            <a:pPr>
              <a:lnSpc>
                <a:spcPct val="110000"/>
              </a:lnSpc>
            </a:pPr>
            <a:r>
              <a:rPr sz="1823" b="1" i="0">
                <a:solidFill>
                  <a:srgbClr val="0A0A0A"/>
                </a:solidFill>
                <a:latin typeface="Inter Tight"/>
              </a:rPr>
              <a:t>Dedicated hiring event</a:t>
            </a:r>
          </a:p>
          <a:p>
            <a:pPr>
              <a:lnSpc>
                <a:spcPct val="135000"/>
              </a:lnSpc>
            </a:pPr>
            <a:r>
              <a:rPr sz="1823" b="1" i="0">
                <a:solidFill>
                  <a:srgbClr val="0A8C66"/>
                </a:solidFill>
                <a:latin typeface="Inter Tight"/>
              </a:rPr>
              <a:t>$15,000</a:t>
            </a:r>
            <a:r>
              <a:rPr sz="1104" b="0" i="0">
                <a:solidFill>
                  <a:srgbClr val="5C6F69"/>
                </a:solidFill>
                <a:latin typeface="Inter"/>
              </a:rPr>
              <a:t> growth · </a:t>
            </a:r>
            <a:r>
              <a:rPr sz="1823" b="1" i="0">
                <a:solidFill>
                  <a:srgbClr val="0A8C66"/>
                </a:solidFill>
                <a:latin typeface="Inter Tight"/>
              </a:rPr>
              <a:t>$25,000</a:t>
            </a:r>
            <a:r>
              <a:rPr sz="1104" b="0" i="0">
                <a:solidFill>
                  <a:srgbClr val="5C6F69"/>
                </a:solidFill>
                <a:latin typeface="Inter"/>
              </a:rPr>
              <a:t> enterprise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Fully branded event, your company only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Dedicated landing page + registration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Personalized AI candidate outreach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50–200 curated leads · 40% attendance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Recording, survey, follow-up campaign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891" y="1668714"/>
            <a:ext cx="3340599" cy="4311446"/>
          </a:xfrm>
          <a:prstGeom prst="roundRect">
            <a:avLst>
              <a:gd name="adj" fmla="val 5109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02731" y="1936938"/>
            <a:ext cx="2852920" cy="3823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15">
                <a:solidFill>
                  <a:srgbClr val="0A8C66"/>
                </a:solidFill>
                <a:latin typeface="Inter"/>
              </a:rPr>
              <a:t>ALWAYS-ON PIPELINE</a:t>
            </a:r>
          </a:p>
          <a:p>
            <a:pPr>
              <a:lnSpc>
                <a:spcPct val="110000"/>
              </a:lnSpc>
            </a:pPr>
            <a:r>
              <a:rPr sz="1823" b="1" i="0">
                <a:solidFill>
                  <a:srgbClr val="0A0A0A"/>
                </a:solidFill>
                <a:latin typeface="Inter Tight"/>
              </a:rPr>
              <a:t>Candidate engagement campaigns</a:t>
            </a:r>
          </a:p>
          <a:p>
            <a:pPr>
              <a:lnSpc>
                <a:spcPct val="135000"/>
              </a:lnSpc>
            </a:pPr>
            <a:r>
              <a:rPr sz="1823" b="1" i="0">
                <a:solidFill>
                  <a:srgbClr val="0A8C66"/>
                </a:solidFill>
                <a:latin typeface="Inter Tight"/>
              </a:rPr>
              <a:t>$20,000</a:t>
            </a:r>
            <a:r>
              <a:rPr sz="1104" b="0" i="0">
                <a:solidFill>
                  <a:srgbClr val="5C6F69"/>
                </a:solidFill>
                <a:latin typeface="Inter"/>
              </a:rPr>
              <a:t>/yr </a:t>
            </a:r>
            <a:r>
              <a:rPr sz="1104" b="0" i="0">
                <a:solidFill>
                  <a:srgbClr val="5C6F69"/>
                </a:solidFill>
                <a:latin typeface="Inter"/>
              </a:rPr>
              <a:t>$28,000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Campaign page + featured employer profile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Four targeted AI hiring campaigns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Strategy &amp; targeting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Traffic direct to your ATS</a:t>
            </a:r>
          </a:p>
          <a:p>
            <a:pPr>
              <a:lnSpc>
                <a:spcPct val="135000"/>
              </a:lnSpc>
            </a:pPr>
            <a:r>
              <a:rPr sz="1056" b="1" i="0">
                <a:solidFill>
                  <a:srgbClr val="0A8C66"/>
                </a:solidFill>
                <a:latin typeface="Inter"/>
              </a:rPr>
              <a:t>✓  </a:t>
            </a:r>
            <a:r>
              <a:rPr sz="1056" b="0" i="0">
                <a:solidFill>
                  <a:srgbClr val="0A0A0A"/>
                </a:solidFill>
                <a:latin typeface="Inter"/>
              </a:rPr>
              <a:t>1,000+ segmented leads annually</a:t>
            </a:r>
          </a:p>
          <a:p>
            <a:pPr>
              <a:lnSpc>
                <a:spcPct val="130000"/>
              </a:lnSpc>
            </a:pPr>
            <a:r>
              <a:rPr sz="960" b="0" i="0">
                <a:solidFill>
                  <a:srgbClr val="5C6F69"/>
                </a:solidFill>
                <a:latin typeface="Inter"/>
              </a:rPr>
              <a:t>Saves $8,000 vs. four individual campaigns.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EVENT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42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84" b="1" i="0" spc="-83">
                <a:solidFill>
                  <a:srgbClr val="0A0A0A"/>
                </a:solidFill>
                <a:latin typeface="Inter Tight"/>
              </a:rPr>
              <a:t>What's included in each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478" y="1556792"/>
          <a:ext cx="10607010" cy="3560053"/>
        </p:xfrm>
        <a:graphic>
          <a:graphicData uri="http://schemas.openxmlformats.org/drawingml/2006/table">
            <a:tbl>
              <a:tblPr firstRow="1" bandRow="0"/>
              <a:tblGrid>
                <a:gridCol w="2333542"/>
                <a:gridCol w="2068367"/>
                <a:gridCol w="2068367"/>
                <a:gridCol w="2068367"/>
                <a:gridCol w="2068367"/>
              </a:tblGrid>
              <a:tr h="390143"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883" b="1" i="0" spc="88">
                          <a:solidFill>
                            <a:srgbClr val="5C6F69"/>
                          </a:solidFill>
                          <a:latin typeface="Inter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0A0A"/>
                          </a:solidFill>
                          <a:latin typeface="Inter Tight"/>
                        </a:rPr>
                        <a:t>Multi-sponsor job fair</a:t>
                      </a:r>
                    </a:p>
                    <a:p>
                      <a:r>
                        <a:rPr sz="883" b="1" i="0" spc="88">
                          <a:solidFill>
                            <a:srgbClr val="5C6F69"/>
                          </a:solidFill>
                          <a:latin typeface="Inter"/>
                        </a:rPr>
                        <a:t>$12,000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0A0A"/>
                          </a:solidFill>
                          <a:latin typeface="Inter Tight"/>
                        </a:rPr>
                        <a:t>Dedicated · growth</a:t>
                      </a:r>
                    </a:p>
                    <a:p>
                      <a:r>
                        <a:rPr sz="883" b="1" i="0" spc="88">
                          <a:solidFill>
                            <a:srgbClr val="5C6F69"/>
                          </a:solidFill>
                          <a:latin typeface="Inter"/>
                        </a:rPr>
                        <a:t>$15,000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8C66"/>
                          </a:solidFill>
                          <a:latin typeface="Inter Tight"/>
                        </a:rPr>
                        <a:t>Dedicated · enterprise</a:t>
                      </a:r>
                    </a:p>
                    <a:p>
                      <a:r>
                        <a:rPr sz="883" b="1" i="0" spc="88">
                          <a:solidFill>
                            <a:srgbClr val="5C6F69"/>
                          </a:solidFill>
                          <a:latin typeface="Inter"/>
                        </a:rPr>
                        <a:t>$25,000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0A0A"/>
                          </a:solidFill>
                          <a:latin typeface="Inter Tight"/>
                        </a:rPr>
                        <a:t>Engagement campaigns</a:t>
                      </a:r>
                    </a:p>
                    <a:p>
                      <a:r>
                        <a:rPr sz="883" b="1" i="0" spc="88">
                          <a:solidFill>
                            <a:srgbClr val="5C6F69"/>
                          </a:solidFill>
                          <a:latin typeface="Inter"/>
                        </a:rPr>
                        <a:t>$20,000/YR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Multi-sponsor live event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Branded, your company only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Branded, your company only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4 quarterly campaigns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Audience access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Open registration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Invite-only, password-protected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Invite-only, password-protected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Direct to your ATS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AI candidate outreach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Targeted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Personalized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Personalized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Targeted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Targeted hiring campaigns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1 campaign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2 · pre &amp; post-event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2 · pre &amp; post-event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4 · quarterly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Candidate lead list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500–1,000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50–200 curated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50–200 curated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1,000+ / yr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Event recording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8C66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8C66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Event highlight video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8C66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Pipeline intelligence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8C66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Expanded promotion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8C66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Performance report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8C66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8C66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8C66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8C66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EVENT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87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64" b="1" i="0" spc="-97">
                <a:solidFill>
                  <a:srgbClr val="0A0A0A"/>
                </a:solidFill>
                <a:latin typeface="Inter Tight"/>
              </a:rPr>
              <a:t>Add-ons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645793"/>
            <a:ext cx="10607013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Bolt any of these onto an event or campaign package.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478" y="2090800"/>
            <a:ext cx="5145011" cy="1182661"/>
          </a:xfrm>
          <a:prstGeom prst="roundRect">
            <a:avLst>
              <a:gd name="adj" fmla="val 12370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92478" y="2090800"/>
            <a:ext cx="60959" cy="1182661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11933" y="2237104"/>
            <a:ext cx="4730484" cy="9388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+$2,000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Event highlight video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~30-second edited recap for recruitment marketing.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80" y="2090800"/>
            <a:ext cx="5145011" cy="1182661"/>
          </a:xfrm>
          <a:prstGeom prst="roundRect">
            <a:avLst>
              <a:gd name="adj" fmla="val 12370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54480" y="2090800"/>
            <a:ext cx="60959" cy="1182661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73935" y="2237104"/>
            <a:ext cx="4730484" cy="9388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+$4,000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Meet the employer video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Net-new video featuring your hiring team.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78" y="3444150"/>
            <a:ext cx="5145011" cy="1182661"/>
          </a:xfrm>
          <a:prstGeom prst="roundRect">
            <a:avLst>
              <a:gd name="adj" fmla="val 12370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92478" y="3444150"/>
            <a:ext cx="60959" cy="1182661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11933" y="3590453"/>
            <a:ext cx="4730484" cy="9388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+$7,000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Additional candidate campaign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One extra multi-touch outreach campaign. Events 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80" y="3444150"/>
            <a:ext cx="5145011" cy="1182661"/>
          </a:xfrm>
          <a:prstGeom prst="roundRect">
            <a:avLst>
              <a:gd name="adj" fmla="val 12370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54480" y="3444150"/>
            <a:ext cx="60959" cy="1182661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73935" y="3590453"/>
            <a:ext cx="4730484" cy="9388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+$7,000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Source &amp; screen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Recruiter-vetted, interview-ready shortlist.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478" y="4797499"/>
            <a:ext cx="5145011" cy="1182661"/>
          </a:xfrm>
          <a:prstGeom prst="roundRect">
            <a:avLst>
              <a:gd name="adj" fmla="val 12370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92478" y="4797499"/>
            <a:ext cx="60959" cy="1182661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11933" y="4943803"/>
            <a:ext cx="4730484" cy="9388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+$2,500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Post-event micro-content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Recap blog, clips, and social assets.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80" y="4797499"/>
            <a:ext cx="5145011" cy="1182661"/>
          </a:xfrm>
          <a:prstGeom prst="roundRect">
            <a:avLst>
              <a:gd name="adj" fmla="val 12370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54480" y="4797499"/>
            <a:ext cx="60959" cy="1182661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73935" y="4943803"/>
            <a:ext cx="4730484" cy="9388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TBD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Prep-day speaking spot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30-minute speaking spot on job fair prep day.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4FE8A9"/>
                </a:solidFill>
                <a:latin typeface="Inter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921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456" b="1" i="0" spc="-103">
                <a:solidFill>
                  <a:srgbClr val="FFFFFF"/>
                </a:solidFill>
                <a:latin typeface="Inter Tight"/>
              </a:rPr>
              <a:t>Let's build your AI team </a:t>
            </a:r>
            <a:r>
              <a:rPr sz="3456" b="1" i="1" spc="-103">
                <a:solidFill>
                  <a:srgbClr val="FFFFFF"/>
                </a:solidFill>
                <a:latin typeface="Inter Tight"/>
              </a:rPr>
              <a:t>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858585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858585"/>
                </a:solidFill>
                <a:latin typeface="Inter"/>
              </a:rPr>
              <a:t>27</a:t>
            </a:r>
          </a:p>
        </p:txBody>
      </p:sp>
      <p:sp>
        <p:nvSpPr>
          <p:cNvPr id="6" name="Oval 5"/>
          <p:cNvSpPr/>
          <p:nvPr/>
        </p:nvSpPr>
        <p:spPr>
          <a:xfrm>
            <a:off x="792478" y="2037400"/>
            <a:ext cx="670558" cy="67055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23" b="1" i="0">
                <a:solidFill>
                  <a:srgbClr val="858585"/>
                </a:solidFill>
                <a:latin typeface="Inter Tight"/>
              </a:rPr>
              <a:t>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2491" y="2061783"/>
            <a:ext cx="310895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8" b="1" i="0">
                <a:solidFill>
                  <a:srgbClr val="FFFFFF"/>
                </a:solidFill>
                <a:latin typeface="Inter Tight"/>
              </a:rPr>
              <a:t>Cristina Duke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2491" y="2427543"/>
            <a:ext cx="310895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44" b="0" i="0">
                <a:solidFill>
                  <a:srgbClr val="CFCFCF"/>
                </a:solidFill>
                <a:latin typeface="Inter"/>
              </a:rPr>
              <a:t>VP of Sales &amp; Customer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1" y="2671382"/>
            <a:ext cx="310895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44" b="0" i="0">
                <a:solidFill>
                  <a:srgbClr val="4FE8A9"/>
                </a:solidFill>
                <a:latin typeface="Inter"/>
              </a:rPr>
              <a:t>cristina@powertofly.com</a:t>
            </a:r>
          </a:p>
        </p:txBody>
      </p:sp>
      <p:sp>
        <p:nvSpPr>
          <p:cNvPr id="10" name="Oval 9"/>
          <p:cNvSpPr/>
          <p:nvPr/>
        </p:nvSpPr>
        <p:spPr>
          <a:xfrm>
            <a:off x="5279122" y="2037400"/>
            <a:ext cx="670558" cy="67055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23" b="1" i="0">
                <a:solidFill>
                  <a:srgbClr val="858585"/>
                </a:solidFill>
                <a:latin typeface="Inter Tight"/>
              </a:rPr>
              <a:t>SF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9136" y="2061783"/>
            <a:ext cx="310895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8" b="1" i="0">
                <a:solidFill>
                  <a:srgbClr val="FFFFFF"/>
                </a:solidFill>
                <a:latin typeface="Inter Tight"/>
              </a:rPr>
              <a:t>Sabrina Fernandez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9136" y="2427543"/>
            <a:ext cx="310895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44" b="0" i="0">
                <a:solidFill>
                  <a:srgbClr val="CFCFCF"/>
                </a:solidFill>
                <a:latin typeface="Inter"/>
              </a:rPr>
              <a:t>Customer Success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9136" y="2671382"/>
            <a:ext cx="310895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44" b="0" i="0">
                <a:solidFill>
                  <a:srgbClr val="4FE8A9"/>
                </a:solidFill>
                <a:latin typeface="Inter"/>
              </a:rPr>
              <a:t>sabrina@powertofly.com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97023"/>
            <a:ext cx="12191969" cy="60959"/>
          </a:xfrm>
          <a:prstGeom prst="rect">
            <a:avLst/>
          </a:prstGeom>
          <a:solidFill>
            <a:srgbClr val="4FE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92478" y="2453633"/>
            <a:ext cx="10607013" cy="243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4" b="1" i="0" spc="176">
                <a:solidFill>
                  <a:srgbClr val="4FE8A9"/>
                </a:solidFill>
                <a:latin typeface="Inter"/>
              </a:rPr>
              <a:t>READY WHEN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2770625"/>
            <a:ext cx="10607013" cy="1341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840" b="1" i="0" spc="-115">
                <a:solidFill>
                  <a:srgbClr val="FFFFFF"/>
                </a:solidFill>
                <a:latin typeface="Inter Tight"/>
              </a:rPr>
              <a:t>Built on a decade of real relationships.</a:t>
            </a:r>
          </a:p>
          <a:p>
            <a:pPr algn="ctr">
              <a:lnSpc>
                <a:spcPct val="105000"/>
              </a:lnSpc>
            </a:pPr>
            <a:r>
              <a:rPr sz="3840" b="1" i="0" spc="-115">
                <a:solidFill>
                  <a:srgbClr val="FFFFFF"/>
                </a:solidFill>
                <a:latin typeface="Inter Tight"/>
              </a:rPr>
              <a:t>Ready for whatever you're </a:t>
            </a:r>
            <a:r>
              <a:rPr sz="3840" b="1" i="1" spc="-115">
                <a:solidFill>
                  <a:srgbClr val="FFFFFF"/>
                </a:solidFill>
                <a:latin typeface="Inter Tight"/>
              </a:rPr>
              <a:t>building</a:t>
            </a:r>
            <a:r>
              <a:rPr sz="3840" b="1" i="0" spc="-115">
                <a:solidFill>
                  <a:srgbClr val="FFFFFF"/>
                </a:solidFill>
                <a:latin typeface="Inter Tight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1028" y="4233661"/>
            <a:ext cx="3169912" cy="5852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32" b="1" i="0">
                <a:solidFill>
                  <a:srgbClr val="0A0A0A"/>
                </a:solidFill>
                <a:latin typeface="Inter"/>
              </a:rPr>
              <a:t>Start the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344" b="1" i="0">
                <a:solidFill>
                  <a:srgbClr val="FFFFFF"/>
                </a:solidFill>
                <a:latin typeface="Inter Tight"/>
              </a:rPr>
              <a:t>PowerToFly </a:t>
            </a:r>
            <a:r>
              <a:rPr sz="1344" b="1" i="0">
                <a:solidFill>
                  <a:srgbClr val="4FE8A9"/>
                </a:solidFill>
                <a:latin typeface="Inter Tight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858585"/>
                </a:solidFill>
                <a:latin typeface="Inter"/>
              </a:rPr>
              <a:t>powertofly.com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4FE8A9"/>
                </a:solidFill>
                <a:latin typeface="Inte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2980326"/>
            <a:ext cx="4632948" cy="785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</a:pPr>
            <a:r>
              <a:rPr sz="4416" b="1" i="0" spc="-132">
                <a:solidFill>
                  <a:srgbClr val="FFFFFF"/>
                </a:solidFill>
                <a:latin typeface="Inter Tight"/>
              </a:rPr>
              <a:t>Go-to-market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3849614"/>
            <a:ext cx="3901430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632" b="0" i="0">
                <a:solidFill>
                  <a:srgbClr val="CFCFCF"/>
                </a:solidFill>
                <a:latin typeface="Inter"/>
              </a:rPr>
              <a:t>ICP, buying triggers, competitive positioning, and buyer personas.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858585"/>
                </a:solidFill>
                <a:latin typeface="Inter"/>
              </a:rPr>
              <a:t>PowerToFly AI ·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858585"/>
                </a:solidFill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ICP — WHO QUALIFIES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Not all AI companies are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our buyer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Not a fit: pre-product startups · pilot-only · traditional SMBs · services firms with no AI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594100"/>
            <a:ext cx="10607013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Three questions qualify any prospect. Business model doesn't matter — mandate, gap, and size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112258"/>
            <a:ext cx="3340599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2538977"/>
            <a:ext cx="3340599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Has an AI mandate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892544"/>
            <a:ext cx="3340599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Approved budget, live product or active build. Not exploring — executing.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84" y="2112258"/>
            <a:ext cx="3340599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84" y="2538977"/>
            <a:ext cx="3340599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Has a talent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84" y="2892544"/>
            <a:ext cx="3340599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AI roles open 45+ days, evaluation needs, or specialized expertise unavailable internally.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8891" y="2112258"/>
            <a:ext cx="3340599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8891" y="2538977"/>
            <a:ext cx="3340599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Right size &amp; geography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8891" y="2892544"/>
            <a:ext cx="3340599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101–2,000 employees · $20M–$250M revenue or funding · US-headquartered. Sweet spot 200–800.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ICP · GROWTH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42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84" b="1" i="0" spc="-83">
                <a:solidFill>
                  <a:srgbClr val="0A0A0A"/>
                </a:solidFill>
                <a:latin typeface="Inter Tight"/>
              </a:rPr>
              <a:t>Where we will </a:t>
            </a:r>
            <a:r>
              <a:rPr sz="2784" b="1" i="1" spc="-83">
                <a:solidFill>
                  <a:srgbClr val="0A0A0A"/>
                </a:solidFill>
                <a:latin typeface="Inter Tight"/>
              </a:rPr>
              <a:t>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 ·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31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478" y="1556792"/>
          <a:ext cx="10607012" cy="2292089"/>
        </p:xfrm>
        <a:graphic>
          <a:graphicData uri="http://schemas.openxmlformats.org/drawingml/2006/table">
            <a:tbl>
              <a:tblPr firstRow="1" bandRow="0"/>
              <a:tblGrid>
                <a:gridCol w="1697122"/>
                <a:gridCol w="4454945"/>
                <a:gridCol w="4454945"/>
              </a:tblGrid>
              <a:tr h="390143"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883" b="1" i="0" spc="88">
                          <a:solidFill>
                            <a:srgbClr val="5C6F69"/>
                          </a:solidFill>
                          <a:latin typeface="Inter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8C66"/>
                          </a:solidFill>
                          <a:latin typeface="Inter Tight"/>
                        </a:rPr>
                        <a:t>1 · Priority ICP</a:t>
                      </a:r>
                    </a:p>
                    <a:p>
                      <a:r>
                        <a:rPr sz="883" b="1" i="0" spc="88">
                          <a:solidFill>
                            <a:srgbClr val="5C6F69"/>
                          </a:solidFill>
                          <a:latin typeface="Inter"/>
                        </a:rPr>
                        <a:t>SMB + MID-MARKET · SAAS &amp; SERVICES · FAST-SCALING, VENTURE-BACKED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0A0A"/>
                          </a:solidFill>
                          <a:latin typeface="Inter Tight"/>
                        </a:rPr>
                        <a:t>2 · Secondary ICP</a:t>
                      </a:r>
                    </a:p>
                    <a:p>
                      <a:r>
                        <a:rPr sz="883" b="1" i="0" spc="88">
                          <a:solidFill>
                            <a:srgbClr val="5C6F69"/>
                          </a:solidFill>
                          <a:latin typeface="Inter"/>
                        </a:rP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Stage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Series B–D · 101–2,000 employees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SMB 50–500 · mid-market 501–2,000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Late-stage · profitable growth · 2,000+ employees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Profile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Building and scaling AI products. Buyers sit close to the problem and move fast when talent becomes the bottleneck.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Scaling AI across multiple business units. Deliberate buyers, procurement involved.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Typical buyers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Founder (SMB) · CTO · VP Engineering · Head of AI · VP Product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CTO · Chief AI Officer · Head of AI · VP Engineering · Procurement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Sales cycle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2–12 weeks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3–6+ months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Deal size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Smaller · closes fast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Large strategic engagements · longer process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Examples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Ramp · Brex · Harvey AI · Writer · Sardine · Decagon · Cohere Health · Zapier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Visa · Moody's · Thomson Reuters · Deloitte · Accenture · Bell · Rogers · ServiceNow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ICP · INDUSTRY VERTICALS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42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84" b="1" i="0" spc="-83">
                <a:solidFill>
                  <a:srgbClr val="0A0A0A"/>
                </a:solidFill>
                <a:latin typeface="Inter Tight"/>
              </a:rPr>
              <a:t>Where to focus </a:t>
            </a:r>
            <a:r>
              <a:rPr sz="2784" b="1" i="1" spc="-83">
                <a:solidFill>
                  <a:srgbClr val="0A0A0A"/>
                </a:solidFill>
                <a:latin typeface="Inter Tight"/>
              </a:rPr>
              <a:t>outbound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Five community counts still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32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478" y="1556792"/>
          <a:ext cx="10607011" cy="3243062"/>
        </p:xfrm>
        <a:graphic>
          <a:graphicData uri="http://schemas.openxmlformats.org/drawingml/2006/table">
            <a:tbl>
              <a:tblPr firstRow="1" bandRow="0"/>
              <a:tblGrid>
                <a:gridCol w="2757823"/>
                <a:gridCol w="3606384"/>
                <a:gridCol w="2333542"/>
                <a:gridCol w="1909262"/>
              </a:tblGrid>
              <a:tr h="390143"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0A0A"/>
                          </a:solidFill>
                          <a:latin typeface="Inter Tight"/>
                        </a:rPr>
                        <a:t>Industry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0A0A"/>
                          </a:solidFill>
                          <a:latin typeface="Inter Tight"/>
                        </a:rPr>
                        <a:t>PTF community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0A0A"/>
                          </a:solidFill>
                          <a:latin typeface="Inter Tight"/>
                        </a:rPr>
                        <a:t>Motion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0A0A"/>
                          </a:solidFill>
                          <a:latin typeface="Inter Tight"/>
                        </a:rPr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Fintech &amp; financial services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6,250 finance domain experts · 1,282 AI roles open / 30 days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Hire + train models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8C66"/>
                          </a:solidFill>
                          <a:latin typeface="Inter"/>
                        </a:rPr>
                        <a:t>Go now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Technology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16K SWE · 2,990 DS/ML · 3,326 AI roles open / 30 days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Hire primary · train models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8C66"/>
                          </a:solidFill>
                          <a:latin typeface="Inter"/>
                        </a:rPr>
                        <a:t>Go now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Healthcare &amp; healthtech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968 validated · highest pay $95–155/hr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Train models primary · hire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Build pipeline first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Media &amp; publishing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5,963 writers &amp; content specialists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Hire + train models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Build pipeline first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Legal &amp; professional services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Need number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Train models + hire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Build pipeline first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Retail &amp; ecommerce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Need number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Train models + hire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Build pipeline first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Consulting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Need number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Hire + train models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Build pipeline first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Pharma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Need number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Train models primary · hire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Build pipeline first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Education · telco · manufacturing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5C6F69"/>
                          </a:solidFill>
                          <a:latin typeface="Inter"/>
                        </a:rPr>
                        <a:t>Need number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Train models + hire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Watch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691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592" b="1" i="0" spc="-77">
                <a:solidFill>
                  <a:srgbClr val="0A0A0A"/>
                </a:solidFill>
                <a:latin typeface="Inter Tight"/>
              </a:rPr>
              <a:t>What this looks like </a:t>
            </a:r>
            <a:r>
              <a:rPr sz="2592" b="1" i="1" spc="-77">
                <a:solidFill>
                  <a:srgbClr val="0A0A0A"/>
                </a:solidFill>
                <a:latin typeface="Inter Tight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 ·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78" y="1604097"/>
            <a:ext cx="5145011" cy="1344896"/>
          </a:xfrm>
          <a:prstGeom prst="roundRect">
            <a:avLst>
              <a:gd name="adj" fmla="val 1087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92478" y="1604097"/>
            <a:ext cx="60959" cy="1344896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1933" y="1750401"/>
            <a:ext cx="4730484" cy="1101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8" b="1" i="0">
                <a:solidFill>
                  <a:srgbClr val="0A8C66"/>
                </a:solidFill>
                <a:latin typeface="Inter Tight"/>
              </a:rPr>
              <a:t>Fintech · hire + train</a:t>
            </a:r>
          </a:p>
          <a:p>
            <a:pPr>
              <a:lnSpc>
                <a:spcPct val="110000"/>
              </a:lnSpc>
            </a:pPr>
            <a:r>
              <a:rPr sz="1439" b="1" i="0">
                <a:solidFill>
                  <a:srgbClr val="0A0A0A"/>
                </a:solidFill>
                <a:latin typeface="Inter Tight"/>
              </a:rPr>
              <a:t>RLHF pipeline for fraud detection</a:t>
            </a:r>
          </a:p>
          <a:p>
            <a:pPr>
              <a:lnSpc>
                <a:spcPct val="130000"/>
              </a:lnSpc>
            </a:pPr>
            <a:r>
              <a:rPr sz="1104" b="0" i="0">
                <a:solidFill>
                  <a:srgbClr val="2A2A2A"/>
                </a:solidFill>
                <a:latin typeface="Inter"/>
              </a:rPr>
              <a:t>Risk analysts give human feedback on a fraud model — accuracy up, with an auditable signal record.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80" y="1604097"/>
            <a:ext cx="5145011" cy="1344896"/>
          </a:xfrm>
          <a:prstGeom prst="roundRect">
            <a:avLst>
              <a:gd name="adj" fmla="val 1087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54480" y="1604097"/>
            <a:ext cx="60959" cy="1344896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73935" y="1750401"/>
            <a:ext cx="4730484" cy="1101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8" b="1" i="0">
                <a:solidFill>
                  <a:srgbClr val="0A8C66"/>
                </a:solidFill>
                <a:latin typeface="Inter Tight"/>
              </a:rPr>
              <a:t>Enterprise SaaS · hire</a:t>
            </a:r>
          </a:p>
          <a:p>
            <a:pPr>
              <a:lnSpc>
                <a:spcPct val="110000"/>
              </a:lnSpc>
            </a:pPr>
            <a:r>
              <a:rPr sz="1439" b="1" i="0">
                <a:solidFill>
                  <a:srgbClr val="0A0A0A"/>
                </a:solidFill>
                <a:latin typeface="Inter Tight"/>
              </a:rPr>
              <a:t>AI PM and LLM product team</a:t>
            </a:r>
          </a:p>
          <a:p>
            <a:pPr>
              <a:lnSpc>
                <a:spcPct val="130000"/>
              </a:lnSpc>
            </a:pPr>
            <a:r>
              <a:rPr sz="1104" b="0" i="0">
                <a:solidFill>
                  <a:srgbClr val="2A2A2A"/>
                </a:solidFill>
                <a:latin typeface="Inter"/>
              </a:rPr>
              <a:t>Three AI PMs with LLM product depth plus a solutions engineer. Placed within 14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78" y="3119681"/>
            <a:ext cx="5145011" cy="1344896"/>
          </a:xfrm>
          <a:prstGeom prst="roundRect">
            <a:avLst>
              <a:gd name="adj" fmla="val 1087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92478" y="3119681"/>
            <a:ext cx="60959" cy="1344896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11933" y="3265984"/>
            <a:ext cx="4730484" cy="1101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8" b="1" i="0">
                <a:solidFill>
                  <a:srgbClr val="0A8C66"/>
                </a:solidFill>
                <a:latin typeface="Inter Tight"/>
              </a:rPr>
              <a:t>Healthcare · train</a:t>
            </a:r>
          </a:p>
          <a:p>
            <a:pPr>
              <a:lnSpc>
                <a:spcPct val="110000"/>
              </a:lnSpc>
            </a:pPr>
            <a:r>
              <a:rPr sz="1439" b="1" i="0">
                <a:solidFill>
                  <a:srgbClr val="0A0A0A"/>
                </a:solidFill>
                <a:latin typeface="Inter Tight"/>
              </a:rPr>
              <a:t>Clinical AI training dataset</a:t>
            </a:r>
          </a:p>
          <a:p>
            <a:pPr>
              <a:lnSpc>
                <a:spcPct val="130000"/>
              </a:lnSpc>
            </a:pPr>
            <a:r>
              <a:rPr sz="1104" b="0" i="0">
                <a:solidFill>
                  <a:srgbClr val="2A2A2A"/>
                </a:solidFill>
                <a:latin typeface="Inter"/>
              </a:rPr>
              <a:t>Nurses and clinicians annotate records and QA diagnostic outputs — clinically grounded, bias-reduced.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80" y="3119681"/>
            <a:ext cx="5145011" cy="1344896"/>
          </a:xfrm>
          <a:prstGeom prst="roundRect">
            <a:avLst>
              <a:gd name="adj" fmla="val 1087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54480" y="3119681"/>
            <a:ext cx="60959" cy="1344896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73935" y="3265984"/>
            <a:ext cx="4730484" cy="1101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8" b="1" i="0">
                <a:solidFill>
                  <a:srgbClr val="0A8C66"/>
                </a:solidFill>
                <a:latin typeface="Inter Tight"/>
              </a:rPr>
              <a:t>Legal tech · train</a:t>
            </a:r>
          </a:p>
          <a:p>
            <a:pPr>
              <a:lnSpc>
                <a:spcPct val="110000"/>
              </a:lnSpc>
            </a:pPr>
            <a:r>
              <a:rPr sz="1439" b="1" i="0">
                <a:solidFill>
                  <a:srgbClr val="0A0A0A"/>
                </a:solidFill>
                <a:latin typeface="Inter Tight"/>
              </a:rPr>
              <a:t>LLM red-teaming for legal AI</a:t>
            </a:r>
          </a:p>
          <a:p>
            <a:pPr>
              <a:lnSpc>
                <a:spcPct val="130000"/>
              </a:lnSpc>
            </a:pPr>
            <a:r>
              <a:rPr sz="1104" b="0" i="0">
                <a:solidFill>
                  <a:srgbClr val="2A2A2A"/>
                </a:solidFill>
                <a:latin typeface="Inter"/>
              </a:rPr>
              <a:t>Paralegals and attorneys stress-test contract analysis for hallucinations and jurisdictional errors.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478" y="4635264"/>
            <a:ext cx="5145011" cy="1344896"/>
          </a:xfrm>
          <a:prstGeom prst="roundRect">
            <a:avLst>
              <a:gd name="adj" fmla="val 1087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92478" y="4635264"/>
            <a:ext cx="60959" cy="1344896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11933" y="4781568"/>
            <a:ext cx="4730484" cy="1101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8" b="1" i="0">
                <a:solidFill>
                  <a:srgbClr val="0A8C66"/>
                </a:solidFill>
                <a:latin typeface="Inter Tight"/>
              </a:rPr>
              <a:t>Media · hire + train</a:t>
            </a:r>
          </a:p>
          <a:p>
            <a:pPr>
              <a:lnSpc>
                <a:spcPct val="110000"/>
              </a:lnSpc>
            </a:pPr>
            <a:r>
              <a:rPr sz="1439" b="1" i="0">
                <a:solidFill>
                  <a:srgbClr val="0A0A0A"/>
                </a:solidFill>
                <a:latin typeface="Inter Tight"/>
              </a:rPr>
              <a:t>Generative content evaluation</a:t>
            </a:r>
          </a:p>
          <a:p>
            <a:pPr>
              <a:lnSpc>
                <a:spcPct val="130000"/>
              </a:lnSpc>
            </a:pPr>
            <a:r>
              <a:rPr sz="1104" b="0" i="0">
                <a:solidFill>
                  <a:srgbClr val="2A2A2A"/>
                </a:solidFill>
                <a:latin typeface="Inter"/>
              </a:rPr>
              <a:t>Writers and editors evaluate outputs for brand safety, tone, and accuracy before rollout.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80" y="4635264"/>
            <a:ext cx="5145011" cy="1344896"/>
          </a:xfrm>
          <a:prstGeom prst="roundRect">
            <a:avLst>
              <a:gd name="adj" fmla="val 10878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54480" y="4635264"/>
            <a:ext cx="60959" cy="1344896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73935" y="4781568"/>
            <a:ext cx="4730484" cy="1101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8" b="1" i="0">
                <a:solidFill>
                  <a:srgbClr val="0A8C66"/>
                </a:solidFill>
                <a:latin typeface="Inter Tight"/>
              </a:rPr>
              <a:t>Industrial · train</a:t>
            </a:r>
          </a:p>
          <a:p>
            <a:pPr>
              <a:lnSpc>
                <a:spcPct val="110000"/>
              </a:lnSpc>
            </a:pPr>
            <a:r>
              <a:rPr sz="1439" b="1" i="0">
                <a:solidFill>
                  <a:srgbClr val="0A0A0A"/>
                </a:solidFill>
                <a:latin typeface="Inter Tight"/>
              </a:rPr>
              <a:t>Predictive maintenance QA</a:t>
            </a:r>
          </a:p>
          <a:p>
            <a:pPr>
              <a:lnSpc>
                <a:spcPct val="130000"/>
              </a:lnSpc>
            </a:pPr>
            <a:r>
              <a:rPr sz="1104" b="0" i="0">
                <a:solidFill>
                  <a:srgbClr val="2A2A2A"/>
                </a:solidFill>
                <a:latin typeface="Inter"/>
              </a:rPr>
              <a:t>Domain engineers flag mislabelled sensor data before it corrupts failure predictions.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BUYING TRIGGERS &amp;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42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84" b="1" i="0" spc="-83">
                <a:solidFill>
                  <a:srgbClr val="0A0A0A"/>
                </a:solidFill>
                <a:latin typeface="Inter Tight"/>
              </a:rPr>
              <a:t>Triggers force action. Signals reveal </a:t>
            </a:r>
            <a:r>
              <a:rPr sz="2784" b="1" i="1" spc="-83">
                <a:solidFill>
                  <a:srgbClr val="0A0A0A"/>
                </a:solidFill>
                <a:latin typeface="Inter Tight"/>
              </a:rPr>
              <a:t>intent</a:t>
            </a:r>
            <a:r>
              <a:rPr sz="2784" b="1" i="0" spc="-83">
                <a:solidFill>
                  <a:srgbClr val="0A0A0A"/>
                </a:solidFill>
                <a:latin typeface="Inter Tigh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Signal → persona → personalised outreach → discovery → expert match → pilot →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605560"/>
            <a:ext cx="5059667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23" b="1" i="0" spc="-18">
                <a:solidFill>
                  <a:srgbClr val="0A0A0A"/>
                </a:solidFill>
                <a:latin typeface="Inter Tight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1946935"/>
            <a:ext cx="5059667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104" b="0" i="0">
                <a:solidFill>
                  <a:srgbClr val="5C6F69"/>
                </a:solidFill>
                <a:latin typeface="Inter"/>
              </a:rPr>
              <a:t>Structural events you can spot without speaking to the buyer.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478" y="2263926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78" y="2349270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Series B/C/D funding announced — AI budget just landed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78" y="2640353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78" y="2725697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New CTO, CPO, Head of AI, or AI transformation lead hired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478" y="3016780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8" y="3102124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Regulatory mandate — EU AI Act, EEOC, HIPAA AI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78" y="3393207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78" y="3478551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Won a major contract requiring AI delivery capability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478" y="3769635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78" y="3854978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Public AI strategy, agent, or product launch announced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478" y="4146062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78" y="4231405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Roadmap demands AI in production within 90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9824" y="1605560"/>
            <a:ext cx="5059667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23" b="1" i="0" spc="-18">
                <a:solidFill>
                  <a:srgbClr val="0A0A0A"/>
                </a:solidFill>
                <a:latin typeface="Inter Tight"/>
              </a:rPr>
              <a:t>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9824" y="1946935"/>
            <a:ext cx="5059667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104" b="0" i="0">
                <a:solidFill>
                  <a:srgbClr val="5C6F69"/>
                </a:solidFill>
                <a:latin typeface="Inter"/>
              </a:rPr>
              <a:t>Behavioural cues that need a conversation to detect.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9824" y="2263926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9824" y="2349270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ML / data engineer role open 60+ days — still searching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9824" y="2640353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9824" y="2725697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Building a domain SLM or AI agent for their vertical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9824" y="3016780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9824" y="3102124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Hiring AI GTM, AI product, or model-trainer roles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39824" y="3393207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9824" y="3478551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Head of model eval / red team / AI safety role open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39824" y="3769635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9824" y="3854978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Using Scale AI or Outlier — and expressing frustration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39824" y="4146062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9824" y="4231405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Visited the PTF pricing or hire-AI-talent page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691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592" b="1" i="0" spc="-77">
                <a:solidFill>
                  <a:srgbClr val="0A0A0A"/>
                </a:solidFill>
                <a:latin typeface="Inter Tight"/>
              </a:rPr>
              <a:t>Where we're differentiated — and why it's </a:t>
            </a:r>
            <a:r>
              <a:rPr sz="2592" b="1" i="1" spc="-77">
                <a:solidFill>
                  <a:srgbClr val="0A0A0A"/>
                </a:solidFill>
                <a:latin typeface="Inter Tight"/>
              </a:rPr>
              <a:t>defensible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 ·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579713"/>
            <a:ext cx="10607013" cy="4937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96" b="0" i="0">
                <a:solidFill>
                  <a:srgbClr val="2A2A2A"/>
                </a:solidFill>
                <a:latin typeface="Inter"/>
              </a:rPr>
              <a:t>The moat:</a:t>
            </a:r>
            <a:r>
              <a:rPr sz="1296" b="0" i="0">
                <a:solidFill>
                  <a:srgbClr val="2A2A2A"/>
                </a:solidFill>
                <a:latin typeface="Inter"/>
              </a:rPr>
              <a:t> 12 years of trusted community and relationships · intersectional talent pool built into our identity · long-term trust attracts higher-quality AI talent.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2478" y="2122256"/>
          <a:ext cx="10607012" cy="2292089"/>
        </p:xfrm>
        <a:graphic>
          <a:graphicData uri="http://schemas.openxmlformats.org/drawingml/2006/table">
            <a:tbl>
              <a:tblPr firstRow="1" bandRow="0"/>
              <a:tblGrid>
                <a:gridCol w="1697122"/>
                <a:gridCol w="2545683"/>
                <a:gridCol w="5197436"/>
                <a:gridCol w="1166771"/>
              </a:tblGrid>
              <a:tr h="390143"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0A0A"/>
                          </a:solidFill>
                          <a:latin typeface="Inter Tight"/>
                        </a:rPr>
                        <a:t>Competitor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0A0A"/>
                          </a:solidFill>
                          <a:latin typeface="Inter Tight"/>
                        </a:rPr>
                        <a:t>What they sell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8C66"/>
                          </a:solidFill>
                          <a:latin typeface="Inter Tight"/>
                        </a:rPr>
                        <a:t>PowerToFly difference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24383" bIns="24383" anchor="b"/>
                    <a:lstStyle/>
                    <a:p>
                      <a:r>
                        <a:rPr sz="1296" b="1" i="0" spc="-12">
                          <a:solidFill>
                            <a:srgbClr val="0A0A0A"/>
                          </a:solidFill>
                          <a:latin typeface="Inter Tight"/>
                        </a:rPr>
                        <a:t>Threat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Mercor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AI-native hiring speed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Trusted domain expertise + a community moat they can't replicate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Scale AI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AI infrastructure / annotation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A trusted human layer — verified and accountable, not an anonymous crowd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Turing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Engineering scale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Industry-qualified expertise — domain depth, not volume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Andela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Engineering staffing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Mid-market fit + AI labs motion + project-to-FTE pathway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LinkedIn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Recruiting volume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Vetted talent — relationship-led, not keyword-matched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  <a:tr h="316991"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1" i="0">
                          <a:solidFill>
                            <a:srgbClr val="0A0A0A"/>
                          </a:solidFill>
                          <a:latin typeface="Inter"/>
                        </a:rPr>
                        <a:t>Toptal / Upwork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Freelance marketplace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Curated quality and diverse depth vs. commodity volume</a:t>
                      </a:r>
                    </a:p>
                  </a:txBody>
                  <a:tcPr>
                    <a:solidFill>
                      <a:srgbClr val="F2F8F6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  <a:tc>
                  <a:txBody>
                    <a:bodyPr wrap="square" lIns="60959" rIns="60959" tIns="30479" bIns="30479" anchor="t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1008" b="0" i="0">
                          <a:solidFill>
                            <a:srgbClr val="2A2A2A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  <a:lnB w="9525" cap="flat">
                      <a:solidFill>
                        <a:srgbClr val="E7E7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BUYER PERSONA — ENTRY POINT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His problem: 8–12 AI roles open 60–90 days. He is the bottleneck.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36</a:t>
            </a:r>
          </a:p>
        </p:txBody>
      </p:sp>
      <p:sp>
        <p:nvSpPr>
          <p:cNvPr id="5" name="Oval 4"/>
          <p:cNvSpPr/>
          <p:nvPr/>
        </p:nvSpPr>
        <p:spPr>
          <a:xfrm>
            <a:off x="792478" y="1157627"/>
            <a:ext cx="731518" cy="731518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4" b="1" i="0">
                <a:solidFill>
                  <a:srgbClr val="0A8C66"/>
                </a:solidFill>
                <a:latin typeface="Inter Tight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2035449"/>
            <a:ext cx="3917279" cy="438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88" b="1" i="0" spc="-53">
                <a:solidFill>
                  <a:srgbClr val="0A0A0A"/>
                </a:solidFill>
                <a:latin typeface="Inter Tight"/>
              </a:rPr>
              <a:t>Greg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474360"/>
            <a:ext cx="3917279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48" b="0" i="0">
                <a:solidFill>
                  <a:srgbClr val="2A2A2A"/>
                </a:solidFill>
                <a:latin typeface="Inter"/>
              </a:rPr>
              <a:t>Head of Talent 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2859016"/>
            <a:ext cx="3917279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4" b="1" i="0" spc="103">
                <a:solidFill>
                  <a:srgbClr val="5C6F69"/>
                </a:solidFill>
                <a:latin typeface="Inter"/>
              </a:rPr>
              <a:t>ALSO KNOWN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3041896"/>
            <a:ext cx="3917279" cy="309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056" b="0" i="0">
                <a:solidFill>
                  <a:srgbClr val="2A2A2A"/>
                </a:solidFill>
                <a:latin typeface="Inter"/>
              </a:rPr>
              <a:t>VP People · Director of Recruiting · CHRO · Technical Recruiting Lead (AI &amp; ML) · Head of Engineering Recruiting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3351572"/>
            <a:ext cx="3917279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4" b="1" i="0" spc="103">
                <a:solidFill>
                  <a:srgbClr val="5C6F69"/>
                </a:solidFill>
                <a:latin typeface="Inter"/>
              </a:rPr>
              <a:t>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534451"/>
            <a:ext cx="3917279" cy="309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056" b="0" i="0">
                <a:solidFill>
                  <a:srgbClr val="2A2A2A"/>
                </a:solidFill>
                <a:latin typeface="Inter"/>
              </a:rPr>
              <a:t>200–2,000 employees · Series B–D · AI mandate active · AI roles open 45+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8" y="3844127"/>
            <a:ext cx="3917279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4" b="1" i="0" spc="103">
                <a:solidFill>
                  <a:srgbClr val="5C6F69"/>
                </a:solidFill>
                <a:latin typeface="Inter"/>
              </a:rPr>
              <a:t>GEOGRAPHY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8" y="4027007"/>
            <a:ext cx="3917279" cy="309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056" b="0" i="0">
                <a:solidFill>
                  <a:srgbClr val="2A2A2A"/>
                </a:solidFill>
                <a:latin typeface="Inter"/>
              </a:rPr>
              <a:t>SF Bay Area · New York · Boston · Austin · Seattle · remote-first with a US entity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8668" y="1157627"/>
            <a:ext cx="48767" cy="893915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68124" y="1157627"/>
            <a:ext cx="6031367" cy="992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632" b="1" i="0" spc="-16">
                <a:solidFill>
                  <a:srgbClr val="0A0A0A"/>
                </a:solidFill>
                <a:latin typeface="Inter Tight"/>
              </a:rPr>
              <a:t>"I have worked with three agencies on our ML Engineer role. They all send the same profiles. I need someone who understands what our team is building and can find people who have done it in financial services."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668" y="2259050"/>
            <a:ext cx="2966915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1" b="1" i="0" spc="118">
                <a:solidFill>
                  <a:srgbClr val="0A8C66"/>
                </a:solidFill>
                <a:latin typeface="Inter"/>
              </a:rPr>
              <a:t>WHAT HE NEEDS FROM PTF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668" y="2502889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Speed — verified candidates in days, not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668" y="2789644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Domain specificity, not generalists who claim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668" y="3076399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Someone who makes him look good to hiring managers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668" y="3363154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Proof points and numbers, not pitch decks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75" y="2259050"/>
            <a:ext cx="2966915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1" b="1" i="0" spc="118">
                <a:solidFill>
                  <a:srgbClr val="0A8C66"/>
                </a:solidFill>
                <a:latin typeface="Inter"/>
              </a:rPr>
              <a:t>HOW HE BUYS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75" y="2502889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Holds the vendor contract — you need him to get paid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575" y="2789644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Approves the vendor relationship company-wide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2575" y="3076399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First placement is a test — win it, earn the 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2575" y="3363154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Never skip him to reach the technical buyer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8668" y="5382754"/>
            <a:ext cx="6250822" cy="254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48668" y="5504674"/>
            <a:ext cx="6250822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04" b="1" i="0">
                <a:solidFill>
                  <a:srgbClr val="0A0A0A"/>
                </a:solidFill>
                <a:latin typeface="Inter"/>
              </a:rPr>
              <a:t>The pitch: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we don't send résumés — we send people who already understand your space. Finance domain: 6,250 validated experts. AI engineers: 796.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BUYER PERSONA — ENTRY POINT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His problem: roadmap slipping, AI PMs impossible to find, model quality thin.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37</a:t>
            </a:r>
          </a:p>
        </p:txBody>
      </p:sp>
      <p:sp>
        <p:nvSpPr>
          <p:cNvPr id="5" name="Oval 4"/>
          <p:cNvSpPr/>
          <p:nvPr/>
        </p:nvSpPr>
        <p:spPr>
          <a:xfrm>
            <a:off x="792478" y="1157627"/>
            <a:ext cx="731518" cy="731518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4" b="1" i="0">
                <a:solidFill>
                  <a:srgbClr val="0A8C66"/>
                </a:solidFill>
                <a:latin typeface="Inter Tight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2035449"/>
            <a:ext cx="3917279" cy="438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88" b="1" i="0" spc="-53">
                <a:solidFill>
                  <a:srgbClr val="0A0A0A"/>
                </a:solidFill>
                <a:latin typeface="Inter Tight"/>
              </a:rPr>
              <a:t>Khadir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474360"/>
            <a:ext cx="3917279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48" b="0" i="0">
                <a:solidFill>
                  <a:srgbClr val="2A2A2A"/>
                </a:solidFill>
                <a:latin typeface="Inter"/>
              </a:rPr>
              <a:t>VP of Product / CPO / Head of AI Product — the technical decision-maker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2859016"/>
            <a:ext cx="3917279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4" b="1" i="0" spc="103">
                <a:solidFill>
                  <a:srgbClr val="5C6F69"/>
                </a:solidFill>
                <a:latin typeface="Inter"/>
              </a:rPr>
              <a:t>ALSO KNOWN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3041896"/>
            <a:ext cx="3917279" cy="309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056" b="0" i="0">
                <a:solidFill>
                  <a:srgbClr val="2A2A2A"/>
                </a:solidFill>
                <a:latin typeface="Inter"/>
              </a:rPr>
              <a:t>CTO · Technical co-founder · VP Engineering · Chief AI Officer · Head of AI Product · Group PM,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3351572"/>
            <a:ext cx="3917279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4" b="1" i="0" spc="103">
                <a:solidFill>
                  <a:srgbClr val="5C6F69"/>
                </a:solidFill>
                <a:latin typeface="Inter"/>
              </a:rPr>
              <a:t>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534451"/>
            <a:ext cx="3917279" cy="309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056" b="0" i="0">
                <a:solidFill>
                  <a:srgbClr val="2A2A2A"/>
                </a:solidFill>
                <a:latin typeface="Inter"/>
              </a:rPr>
              <a:t>100–800 employees · Series B–D · AI embedded in the core product · hiring AI PMs and evaluators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8" y="3844127"/>
            <a:ext cx="3917279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4" b="1" i="0" spc="103">
                <a:solidFill>
                  <a:srgbClr val="5C6F69"/>
                </a:solidFill>
                <a:latin typeface="Inter"/>
              </a:rPr>
              <a:t>GEOGRAPHY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8" y="4027007"/>
            <a:ext cx="3917279" cy="309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056" b="0" i="0">
                <a:solidFill>
                  <a:srgbClr val="2A2A2A"/>
                </a:solidFill>
                <a:latin typeface="Inter"/>
              </a:rPr>
              <a:t>SF Bay Area · New York · Boston · Austin · Seattle · remote-first with a US entity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8668" y="1157627"/>
            <a:ext cx="48767" cy="893915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68124" y="1157627"/>
            <a:ext cx="6031367" cy="992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632" b="1" i="0" spc="-16">
                <a:solidFill>
                  <a:srgbClr val="0A0A0A"/>
                </a:solidFill>
                <a:latin typeface="Inter Tight"/>
              </a:rPr>
              <a:t>"We are not just building features — we are building AI that has to be right. I need evaluators who actually understand what our customers do for a living. My engineers are brilliant, but they are not domain experts."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668" y="2259050"/>
            <a:ext cx="2966915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1" b="1" i="0" spc="118">
                <a:solidFill>
                  <a:srgbClr val="0A8C66"/>
                </a:solidFill>
                <a:latin typeface="Inter"/>
              </a:rPr>
              <a:t>WHAT HE NEEDS FROM PTF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668" y="2502889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AI PMs who have shipped LLM-powered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668" y="2789644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Domain experts to evaluate model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668" y="3076399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Startup speed, not enterprise 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668" y="3363154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Two problems solved through one partner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75" y="2259050"/>
            <a:ext cx="2966915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1" b="1" i="0" spc="118">
                <a:solidFill>
                  <a:srgbClr val="0A8C66"/>
                </a:solidFill>
                <a:latin typeface="Inter"/>
              </a:rPr>
              <a:t>HOW HE BUYS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75" y="2502889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Feels the pain directly — moves fast when something is on fire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575" y="2789644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Under 300 headcount, often approves the vendor himself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2575" y="3076399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Must loop in TA at contract stage regardless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2575" y="3363154"/>
            <a:ext cx="2966915" cy="274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</a:pPr>
            <a:r>
              <a:rPr sz="1056" b="0" i="0">
                <a:solidFill>
                  <a:srgbClr val="0A8C66"/>
                </a:solidFill>
                <a:latin typeface="Inter"/>
              </a:rPr>
              <a:t>—  </a:t>
            </a:r>
            <a:r>
              <a:rPr sz="1056" b="0" i="0">
                <a:solidFill>
                  <a:srgbClr val="2A2A2A"/>
                </a:solidFill>
                <a:latin typeface="Inter"/>
              </a:rPr>
              <a:t>Engages on LinkedIn, conferences, product communities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8668" y="5382754"/>
            <a:ext cx="6250822" cy="254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48668" y="5504674"/>
            <a:ext cx="6250822" cy="48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04" b="1" i="0">
                <a:solidFill>
                  <a:srgbClr val="0A0A0A"/>
                </a:solidFill>
                <a:latin typeface="Inter"/>
              </a:rPr>
              <a:t>The pitch: </a:t>
            </a:r>
            <a:r>
              <a:rPr sz="1104" b="0" i="0">
                <a:solidFill>
                  <a:srgbClr val="2A2A2A"/>
                </a:solidFill>
                <a:latin typeface="Inter"/>
              </a:rPr>
              <a:t>we place AI PMs who have shipped LLM products, and deploy domain experts for model evaluation — clinicians, lawyers, analysts — by vertical.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How a training engagement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actually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89171"/>
            <a:ext cx="2432297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215890"/>
            <a:ext cx="2432297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Onboarding &amp; calibration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2569457"/>
            <a:ext cx="2432297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Experts review your project instructions and labeling guidelines, then complete calibration tasks.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7383" y="1789171"/>
            <a:ext cx="2432297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7383" y="2215890"/>
            <a:ext cx="2432297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Task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7383" y="2569457"/>
            <a:ext cx="2432297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Labeling, ranking, scoring, or critiquing — at the volume and cadence you 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288" y="1789171"/>
            <a:ext cx="2432297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2288" y="2215890"/>
            <a:ext cx="2432297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Quality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2288" y="2569457"/>
            <a:ext cx="2432297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Consistency, gold-standard agreement, and policy adherence monitored throughout.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7193" y="1789171"/>
            <a:ext cx="2432297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7193" y="2215890"/>
            <a:ext cx="2432297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Guideline 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7193" y="2569457"/>
            <a:ext cx="2432297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We adapt quickly to evolving rubrics and edge-case clarifications.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BUYER PERSONAS —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Two personas still to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Source deck had these as two bare note slides — needs Fran/Milena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16019"/>
            <a:ext cx="5059667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23" b="1" i="0" spc="-18">
                <a:solidFill>
                  <a:srgbClr val="0A0A0A"/>
                </a:solidFill>
                <a:latin typeface="Inter Tight"/>
              </a:rPr>
              <a:t>Alex · CEO / 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057394"/>
            <a:ext cx="5059667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104" b="0" i="0">
                <a:solidFill>
                  <a:srgbClr val="5C6F69"/>
                </a:solidFill>
                <a:latin typeface="Inter"/>
              </a:rPr>
              <a:t>Business-level pitch. Assumes no deep AI knowledge.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478" y="2374386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78" y="2459729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Competitive position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78" y="2750813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78" y="2836156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Liability and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478" y="3127240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8" y="3212583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Operational consolidation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9824" y="1716019"/>
            <a:ext cx="5059667" cy="3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23" b="1" i="0" spc="-18">
                <a:solidFill>
                  <a:srgbClr val="0A0A0A"/>
                </a:solidFill>
                <a:latin typeface="Inter Tight"/>
              </a:rPr>
              <a:t>Rachel · COO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824" y="2057394"/>
            <a:ext cx="5059667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104" b="0" i="0">
                <a:solidFill>
                  <a:srgbClr val="5C6F69"/>
                </a:solidFill>
                <a:latin typeface="Inter"/>
              </a:rPr>
              <a:t>Operational pitch.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9824" y="2374386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9824" y="2459729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Cost of bad hires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9824" y="2750813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9824" y="2836156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Vendor sprawl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9824" y="3127240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9824" y="3212583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Retention rates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9824" y="3503667"/>
            <a:ext cx="5059667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9824" y="3589011"/>
            <a:ext cx="5059667" cy="278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Flexible engagement models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4FE8A9"/>
                </a:solidFill>
                <a:latin typeface="Inter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2980326"/>
            <a:ext cx="4632948" cy="785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</a:pPr>
            <a:r>
              <a:rPr sz="4416" b="1" i="0" spc="-132">
                <a:solidFill>
                  <a:srgbClr val="FFFFFF"/>
                </a:solidFill>
                <a:latin typeface="Inter Tight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3849614"/>
            <a:ext cx="3901430" cy="731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632" b="0" i="0">
                <a:solidFill>
                  <a:srgbClr val="CFCFCF"/>
                </a:solidFill>
                <a:latin typeface="Inter"/>
              </a:rPr>
              <a:t>Trust signals, why PowerToFly, verticals, and the full role bench.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858585"/>
                </a:solidFill>
                <a:latin typeface="Inter"/>
              </a:rPr>
              <a:t>PowerToFly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858585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DEFINING TRUST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From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verified</a:t>
            </a:r>
            <a:r>
              <a:rPr sz="2879" b="1" i="0" spc="-86">
                <a:solidFill>
                  <a:srgbClr val="0A0A0A"/>
                </a:solidFill>
                <a:latin typeface="Inter Tight"/>
              </a:rPr>
              <a:t> to trusted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594100"/>
            <a:ext cx="10607013" cy="54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439" b="0" i="0">
                <a:solidFill>
                  <a:srgbClr val="2A2A2A"/>
                </a:solidFill>
                <a:latin typeface="Inter"/>
              </a:rPr>
              <a:t>Every PowerToFly expert moves through a defined progression. Verified on day one; trusted is earned through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435345"/>
            <a:ext cx="1887316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8" y="2862064"/>
            <a:ext cx="1887316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39" b="1" i="0">
                <a:solidFill>
                  <a:srgbClr val="0A0A0A"/>
                </a:solidFill>
                <a:latin typeface="Inter Tight"/>
              </a:rPr>
              <a:t>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3215631"/>
            <a:ext cx="1887316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Identity · profile consistency ·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2402" y="2435345"/>
            <a:ext cx="1887316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2402" y="2862064"/>
            <a:ext cx="1887316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39" b="1" i="0">
                <a:solidFill>
                  <a:srgbClr val="0A0A0A"/>
                </a:solidFill>
                <a:latin typeface="Inter Tight"/>
              </a:rPr>
              <a:t>Vetted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2402" y="3215631"/>
            <a:ext cx="1887316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Screening · assessments ·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2326" y="2435345"/>
            <a:ext cx="1887316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2326" y="2862064"/>
            <a:ext cx="1887316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39" b="1" i="0">
                <a:solidFill>
                  <a:srgbClr val="0A0A0A"/>
                </a:solidFill>
                <a:latin typeface="Inter Tight"/>
              </a:rPr>
              <a:t>Qualified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2326" y="3215631"/>
            <a:ext cx="1887316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Skills · experience · role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2250" y="2435345"/>
            <a:ext cx="1887316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2250" y="2862064"/>
            <a:ext cx="1887316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39" b="1" i="0">
                <a:solidFill>
                  <a:srgbClr val="0A0A0A"/>
                </a:solidFill>
                <a:latin typeface="Inter Tight"/>
              </a:rPr>
              <a:t>Trusted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2250" y="3215631"/>
            <a:ext cx="1887316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Performance · outcomes · repeat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12174" y="2435345"/>
            <a:ext cx="1887316" cy="390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88" b="1" i="0">
                <a:solidFill>
                  <a:srgbClr val="0A8C66"/>
                </a:solidFill>
                <a:latin typeface="Inter Tight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2174" y="2862064"/>
            <a:ext cx="1887316" cy="536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39" b="1" i="0">
                <a:solidFill>
                  <a:srgbClr val="0A0A0A"/>
                </a:solidFill>
                <a:latin typeface="Inter Tight"/>
              </a:rPr>
              <a:t>Ready to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2174" y="3215631"/>
            <a:ext cx="1887316" cy="975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Active · available · matched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WHY POWERTOFLY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No one else is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built like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78" y="1667251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92478" y="1667251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1933" y="1813555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01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A community no one can replicate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12 years of real relationships. People who chose to be here — a network, not a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80" y="1667251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54480" y="1667251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73935" y="1813555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02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Verified domain expertise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We match on real-world experience, not keywords or job titles.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78" y="3161784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92478" y="3161784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11933" y="3308087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03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Global reach, locally compliant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190 countries. We place wherever you build and handle compliance.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80" y="3161784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54480" y="3161784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73935" y="3308087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04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Flexible, transparent pricing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Full-time, fractional, or model-training pods. You see exactly what you pay for.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478" y="4656316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92478" y="4656316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11933" y="4802619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05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Intersectionality as a sourcing edge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Reach talent competitors miss — and build models that work for everyone.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80" y="4656316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54480" y="4656316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73935" y="4802619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06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Mid-to-senior specialists only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We don't flood your inbox. Fewer, better candidates, ready day one.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OUR VERTICALS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We know your industry, not just your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job titles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78" y="1667251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92478" y="1667251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1933" y="1813555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01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Financial services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Quant, risk, compliance, AI fraud detection, algorithmic trading, wealth tech.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80" y="1667251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54480" y="1667251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73935" y="1813555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02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Technology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AI platform engineers, MLOps, applied research, AI-native product teams.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78" y="3161784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92478" y="3161784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11933" y="3308087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03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Healthcare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Clinical AI, EHR systems, regulatory affairs, medical imaging specialists.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80" y="3161784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54480" y="3161784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73935" y="3308087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04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Legal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AI-assisted research, contract review, compliance, e-discovery experts.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478" y="4656316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92478" y="4656316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11933" y="4802619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05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Pharma &amp; life sciences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Drug discovery AI, clinical data annotation, regulatory domain experts.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80" y="4656316"/>
            <a:ext cx="5145011" cy="1323844"/>
          </a:xfrm>
          <a:prstGeom prst="roundRect">
            <a:avLst>
              <a:gd name="adj" fmla="val 11051"/>
            </a:avLst>
          </a:prstGeom>
          <a:noFill/>
          <a:ln w="12700">
            <a:solidFill>
              <a:srgbClr val="E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54480" y="4656316"/>
            <a:ext cx="60959" cy="1323844"/>
          </a:xfrm>
          <a:prstGeom prst="rect">
            <a:avLst/>
          </a:prstGeom>
          <a:solidFill>
            <a:srgbClr val="0A8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73935" y="4802619"/>
            <a:ext cx="4730484" cy="10800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2" b="1" i="0">
                <a:solidFill>
                  <a:srgbClr val="0A8C66"/>
                </a:solidFill>
                <a:latin typeface="Inter Tight"/>
              </a:rPr>
              <a:t>06</a:t>
            </a:r>
          </a:p>
          <a:p>
            <a:pPr>
              <a:lnSpc>
                <a:spcPct val="110000"/>
              </a:lnSpc>
            </a:pPr>
            <a:r>
              <a:rPr sz="1632" b="1" i="0">
                <a:solidFill>
                  <a:srgbClr val="0A0A0A"/>
                </a:solidFill>
                <a:latin typeface="Inter Tight"/>
              </a:rPr>
              <a:t>Retail &amp; ecommerce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Inter"/>
              </a:rPr>
              <a:t>Personalization, demand forecasting, AI operations, customer intelligence.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78" y="682750"/>
            <a:ext cx="10607013" cy="195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4" b="1" i="0" spc="176">
                <a:solidFill>
                  <a:srgbClr val="0A8C66"/>
                </a:solidFill>
                <a:latin typeface="Inter"/>
              </a:rPr>
              <a:t>ROLES WE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78" y="1157627"/>
            <a:ext cx="10607013" cy="768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79" b="1" i="0" spc="-86">
                <a:solidFill>
                  <a:srgbClr val="0A0A0A"/>
                </a:solidFill>
                <a:latin typeface="Inter Tight"/>
              </a:rPr>
              <a:t>Thirty role families, </a:t>
            </a:r>
            <a:r>
              <a:rPr sz="2879" b="1" i="1" spc="-86">
                <a:solidFill>
                  <a:srgbClr val="0A0A0A"/>
                </a:solidFill>
                <a:latin typeface="Inter Tight"/>
              </a:rPr>
              <a:t>three 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104" b="0" i="0">
                <a:solidFill>
                  <a:srgbClr val="5C6F69"/>
                </a:solidFill>
                <a:latin typeface="Inter"/>
              </a:rPr>
              <a:t>PowerToFly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6004544"/>
            <a:ext cx="10607013" cy="17068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104" b="0" i="0">
                <a:solidFill>
                  <a:srgbClr val="5C6F69"/>
                </a:solidFill>
                <a:latin typeface="Inter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642867"/>
            <a:ext cx="3291831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34">
                <a:solidFill>
                  <a:srgbClr val="0A8C66"/>
                </a:solidFill>
                <a:latin typeface="Inter"/>
              </a:rPr>
              <a:t>AI TECHNICAL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478" y="1911091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78" y="1978147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ML engineer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478" y="220857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8" y="2275631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AI application engineer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78" y="250605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478" y="257311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MLOps / AI infrastructure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478" y="280354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78" y="287059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Data engineer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78" y="3101027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78" y="3168083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AI architect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478" y="3398511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78" y="3465567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Fine-tuning specialist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478" y="369599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478" y="3763051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Applied research scientist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78" y="399347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478" y="406053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AI safety / red 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478" y="429096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478" y="435801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Responsible AI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78" y="4588447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478" y="4655503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Prompt engineer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0068" y="1642867"/>
            <a:ext cx="3291831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34">
                <a:solidFill>
                  <a:srgbClr val="0A8C66"/>
                </a:solidFill>
                <a:latin typeface="Inter"/>
              </a:rPr>
              <a:t>DOMAIN SPECIALIST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50068" y="1911091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0068" y="1978147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Healthcare domain evaluator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50068" y="220857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0068" y="2275631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Legal reasoning specialist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0068" y="250605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0068" y="257311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Financial services expert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50068" y="280354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0068" y="287059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Regulatory / compliance reviewer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50068" y="3101027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0068" y="3168083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Clinical data annotator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50068" y="3398511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0068" y="3465567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Scientific research advisor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50068" y="369599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50068" y="3763051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Multilingual content reviewer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50068" y="399347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50068" y="406053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Policy and ethics advisor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50068" y="429096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0068" y="435801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AI output auditor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50068" y="4588447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0068" y="4655503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Subject-matter evaluator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07659" y="1642867"/>
            <a:ext cx="3291831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60" b="1" i="0" spc="134">
                <a:solidFill>
                  <a:srgbClr val="0A8C66"/>
                </a:solidFill>
                <a:latin typeface="Inter"/>
              </a:rPr>
              <a:t>GTM &amp; COMMERCIAL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07659" y="1911091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07659" y="1978147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AI product manager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07659" y="220857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7659" y="2275631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Head of AI partnerships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07659" y="250605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07659" y="257311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Enterprise AI solutions engineer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07659" y="280354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07659" y="287059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AI sales engineer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07659" y="3101027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07659" y="3168083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VP of AI strategy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07659" y="3398511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07659" y="3465567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Customer success — AI impl.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07659" y="3695995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07659" y="3763051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Revenue operations — AI stack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07659" y="3993479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07659" y="4060535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AI product marketing manager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07659" y="4290963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07659" y="4358019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Head of AI GTM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07659" y="4588447"/>
            <a:ext cx="3291831" cy="12700"/>
          </a:xfrm>
          <a:prstGeom prst="rect">
            <a:avLst/>
          </a:prstGeom>
          <a:solidFill>
            <a:srgbClr val="E7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07659" y="4655503"/>
            <a:ext cx="3291831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2" b="0" i="0">
                <a:solidFill>
                  <a:srgbClr val="2A2A2A"/>
                </a:solidFill>
                <a:latin typeface="Inter"/>
              </a:rPr>
              <a:t>AI business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