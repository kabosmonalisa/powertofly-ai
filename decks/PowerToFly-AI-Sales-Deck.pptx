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"/>
          </a:xfrm>
          <a:prstGeom prst="rect">
            <a:avLst/>
          </a:prstGeom>
          <a:solidFill>
            <a:srgbClr val="4FE8A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PowerToFly </a:t>
            </a:r>
            <a:pPr algn="l" indent="0" marL="0">
              <a:buNone/>
            </a:pPr>
            <a:r>
              <a:rPr lang="en-US" sz="18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8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WORKFORCE PARTNER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AI is only as good as</a:t>
            </a:r>
            <a:endParaRPr lang="en-US" sz="5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</a:t>
            </a:r>
            <a:endParaRPr lang="en-US" sz="5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people</a:t>
            </a:r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behind it.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connects organizations with an active global community of technologists and functional experts — native AI capability, AI fluency, and deep domain expertise.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GTM sales 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 we'll cover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737360" y="24688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talent gap in AI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31520" y="34015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37360" y="34015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Our verified community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433425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4334256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How engagements work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31520" y="526694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37360" y="5266944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Pricing &amp; next steps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Anonymous crowds don't ship AI. </a:t>
            </a:r>
            <a:pPr algn="l" indent="0" marL="0">
              <a:lnSpc>
                <a:spcPct val="103000"/>
              </a:lnSpc>
              <a:buNone/>
            </a:pPr>
            <a:r>
              <a:rPr lang="en-US" sz="4600" b="1" i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Verified experts</a:t>
            </a:r>
            <a:pPr algn="l" indent="0" marL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do.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Trusted by top brands globally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80K+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experts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5603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6,500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2976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professionals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25603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86384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75%+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31520" y="5074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&amp; BIPOC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251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70%+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297680" y="5074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Mid–senior level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4251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12+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7863840" y="5074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 of trust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initiatives stall without the right </a:t>
            </a:r>
            <a:pPr algn="l" indent="0" marL="0">
              <a:lnSpc>
                <a:spcPct val="102000"/>
              </a:lnSpc>
              <a:buNone/>
            </a:pPr>
            <a:r>
              <a:rPr lang="en-US" sz="34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talent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404872"/>
            <a:ext cx="48920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146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Supply gap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89864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Demand has outrun supply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market is short on AI-native engineers, ML specialists, and domain experts.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404872"/>
            <a:ext cx="48920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25146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45+ days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80760" y="289864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Roles stay open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0760" y="324612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Slipped roadmaps and lost ground while competitors ship and you're still interviewing.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42232"/>
            <a:ext cx="48920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519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 model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1520" y="463600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hiring model isn't enough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need full-time, fractional, and model-training talent — often at once.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4142232"/>
            <a:ext cx="48920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2519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78%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80760" y="463600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Homogeneous teams create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49834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AI researchers are male; the bias in who builds your models ships to production.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Flexible ways to scale your team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Hire AI talent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Verified, qualified professionals — full-time or fractional.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engineers &amp; applied research scientists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PMs &amp; solutions engineers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RLHF, MLOps, AI safety &amp; cyber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acquisition services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Recruiting &amp; networking events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24688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27432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Train your models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80760" y="3246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teams to train, evaluate, and red-team your models.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80760" y="37947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evaluators &amp; annotation specialists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RLHF &amp; model evaluation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Red-teaming &amp; AI safety reviewers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50292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53035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Contract, contract-to-hire, or 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POWERTOFLY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Smaller scale, bigger impact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Verified, not anonymous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expert is vetted for real AI capability — no crowd, no guesswork.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2743200"/>
            <a:ext cx="502920" cy="50292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0" y="3429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Days to staffed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97680" y="4023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pre-built community means a shortlist in days, not a months-long search.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63840" y="2743200"/>
            <a:ext cx="502920" cy="50292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63840" y="3429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Deep domain fit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863840" y="4023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Experts who already know your industry — finance, healthcare, legal, and more.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POWERTOFLY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 one else is 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built like this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59689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community you can't replicate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9443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Experts who chose to be here — a network, not a database.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80760" y="237744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80760" y="259689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Verified domain expertise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80760" y="29443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Matched on experience, not keywords.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673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Global, locally compliant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190 countries — compliance handled.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3547872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37673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Flexible, transparent pricing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080760" y="41148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Full-time, fractional, or training pods.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7183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937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Intersectionality as an edge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31520" y="52852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talent competitors miss.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47183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4937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Mid-to-senior only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080760" y="52852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Fewer, better — ready day one.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SETS US APART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expertise. Representative talent. End-to-end hiring.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2503170" cy="3566160"/>
          </a:xfrm>
          <a:prstGeom prst="roundRect">
            <a:avLst>
              <a:gd name="adj" fmla="val 2922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514600"/>
            <a:ext cx="21739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MARKETPLACES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96112" y="2770632"/>
            <a:ext cx="2173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Toptal · Scale · Andela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3383280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technical vetting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950208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Homogeneous pool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4517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4517136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Premium-only pricing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5084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5084064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hiring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63290" y="2331720"/>
            <a:ext cx="2503170" cy="3566160"/>
          </a:xfrm>
          <a:prstGeom prst="roundRect">
            <a:avLst>
              <a:gd name="adj" fmla="val 2922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7882" y="2514600"/>
            <a:ext cx="21739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COMMUNITIES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27882" y="2770632"/>
            <a:ext cx="2173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Handshake · Fairygodboss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27882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20490" y="3383280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 communities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27882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20490" y="3950208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AI specialization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27882" y="4517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20490" y="4517136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vetting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27882" y="5084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20490" y="5084064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hiring services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5060" y="2331720"/>
            <a:ext cx="2503170" cy="3566160"/>
          </a:xfrm>
          <a:prstGeom prst="roundRect">
            <a:avLst>
              <a:gd name="adj" fmla="val 2922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9652" y="2514600"/>
            <a:ext cx="21739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STAFFING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9652" y="2770632"/>
            <a:ext cx="2173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Robert Half · TEKsystems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9652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52260" y="3383280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Recruiting &amp; placement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9652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52260" y="3950208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Generalist pool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9652" y="4517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52260" y="4517136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AI specialization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9652" y="5084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52260" y="5084064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community access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926830" y="2331720"/>
            <a:ext cx="2503170" cy="3566160"/>
          </a:xfrm>
          <a:prstGeom prst="roundRect">
            <a:avLst>
              <a:gd name="adj" fmla="val 2922"/>
            </a:avLst>
          </a:prstGeom>
          <a:solidFill>
            <a:srgbClr val="F0FAF6"/>
          </a:solidFill>
          <a:ln w="12700">
            <a:solidFill>
              <a:srgbClr val="0A8C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91422" y="2514600"/>
            <a:ext cx="21739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091422" y="2770632"/>
            <a:ext cx="2173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+ domain · 190 countries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091422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384030" y="3383280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domain expertise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91422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384030" y="3950208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community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91422" y="4517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384030" y="4517136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pricing &amp; hiring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091422" y="5084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384030" y="5084064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placement support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When they're interviewing, you're in 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23545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Accelerate delivery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23545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experts contribute from day one — not month three.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6140" y="2788920"/>
            <a:ext cx="457200" cy="45720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61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06140" y="3429000"/>
            <a:ext cx="23545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Improve AI quality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06140" y="4023360"/>
            <a:ext cx="23545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experts who know your data produce better models and evals.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788920"/>
            <a:ext cx="457200" cy="45720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0760" y="3429000"/>
            <a:ext cx="23545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Compete effectively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0760" y="4023360"/>
            <a:ext cx="23545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AI faster than competitors still searching for talent.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55380" y="2788920"/>
            <a:ext cx="457200" cy="45720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53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55380" y="3429000"/>
            <a:ext cx="23545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Reduce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55380" y="4023360"/>
            <a:ext cx="23545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Project-to-hire lets you validate fit before you commit.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Matched in days, not months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us the role and the domain. We surface pre-vetted experts who already know your industry — you interview a shortlist, not a stack of résumés.</a:t>
            </a:r>
            <a:endParaRPr lang="en-US" sz="1500" dirty="0"/>
          </a:p>
        </p:txBody>
      </p:sp>
      <p:pic>
        <p:nvPicPr>
          <p:cNvPr id="5" name="Image 0" descr="/private/tmp/claude-501/-Users-lizu-Documents-Claude-Projects-PowerToFly-Ai-PowerToFly-Ai-Explorations-round-04-synthesis/3f3f8204-568f-4f19-83dc-2011475c461d/scratchpad/small/14.braids-lady-dziana-hasanbekava-727538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188720"/>
            <a:ext cx="5029200" cy="44805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COMPANIES CHOOSE POWERTOFLY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experts who understand your industry from </a:t>
            </a:r>
            <a:pPr indent="0" marL="0">
              <a:lnSpc>
                <a:spcPct val="102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day 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business scales faster, builds better models, and competes more effectively.</a:t>
            </a:r>
            <a:endParaRPr lang="en-US" sz="1500" dirty="0"/>
          </a:p>
        </p:txBody>
      </p:sp>
      <p:pic>
        <p:nvPicPr>
          <p:cNvPr id="5" name="Image 0" descr="/private/tmp/claude-501/-Users-lizu-Documents-Claude-Projects-PowerToFly-Ai-PowerToFly-Ai-Explorations-round-04-synthesis/3f3f8204-568f-4f19-83dc-2011475c461d/scratchpad/small/11.black-lady-laptop-christina-wocintechchat-com-m-7RRj4wDX7LE-unsplas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188720"/>
            <a:ext cx="4480560" cy="44805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Results that speak for themselves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Zapier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7552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Engineers · Data Scientists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2316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hires placed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7552" y="4315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 wk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23160" y="43159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time to hire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87552" y="49743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91%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2316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at 1 yr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Moody's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45152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Analysts · Prompt Engineers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5152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8076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specialists placed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45152" y="4315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80760" y="43159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verticals in parallel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45152" y="49743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 wk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8076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first hire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467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Deloitte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02752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PMs · LLM Engineers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02752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3836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screened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02752" y="4315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38360" y="43159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hires, 3 practices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02752" y="49743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6 wk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73836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replace with verified client results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PEOPLE WHO HIRED WITH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Trusted by talent teams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2788920"/>
            <a:ext cx="4700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"Exceptional talent around the world, and their events expanded our reach to representative talent."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87552" y="3547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Kimberly W.</a:t>
            </a:r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Head of Talent Attraction, Zapier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73952" y="2788920"/>
            <a:ext cx="4700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team goes above and beyond. I can trust the quality of delivery and that I'll have their support."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73952" y="3547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Mayra M.</a:t>
            </a:r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Global TA Lead, RebelMouse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4617720"/>
            <a:ext cx="4700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"Solid support — not just hiring but keeping candidates warm. They work like they're part of your org."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87552" y="53766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Navjyot K.</a:t>
            </a:r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Global Talent Lead, SoftwareOne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41605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73952" y="4617720"/>
            <a:ext cx="4700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"Fantastic hires from our partnership. Candidate reach and benchmarking are why we partner with PTF."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73952" y="53766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Roberta S.</a:t>
            </a:r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Global TA Lead, Collins Aerospace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Flexible engagement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RECRUITER-AS-A-SERVICE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7552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Dedicated capacity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placement fees. 3-month minimum.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383133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886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partner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71800" y="388620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$15k/mo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87552" y="433425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389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Part-time partner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71800" y="438912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$7k/mo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Sourcing · screening · delivery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RETAINED SEARCH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5152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Strategic permanent hires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45152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total first-year compensation.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5152" y="383133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3886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(Dir &amp; above)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29400" y="388620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45152" y="433425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4389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Sr. Manager &amp; below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9400" y="438912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45152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⅓ start · ⅓ shortlist · balance on placement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67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TO HIRE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02752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Flexible expertise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02752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 vary by role &amp; location.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02752" y="383133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3886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trainers &amp; evaluators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287000" y="388620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$50+/hr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02752" y="433425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4389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&amp; domain experts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287000" y="438912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$100+/hr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02752" y="483717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4892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Fractional leaders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287000" y="489204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$200+/hr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61520" cy="82296"/>
          </a:xfrm>
          <a:prstGeom prst="rect">
            <a:avLst/>
          </a:prstGeom>
          <a:solidFill>
            <a:srgbClr val="4FE8A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8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TALK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Build your AI team with people</a:t>
            </a:r>
            <a:endParaRPr lang="en-US" sz="38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who already </a:t>
            </a:r>
            <a:endParaRPr lang="en-US" sz="38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3800" b="1" i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know</a:t>
            </a:r>
            <a:pPr algn="ctr"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your industry.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937760" y="443484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4434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a call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419088"/>
            <a:ext cx="7488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0456" y="64190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PowerToFly AI — Sales deck</dc:title>
  <dc:subject>PptxGenJS Presentation</dc:subject>
  <dc:creator>PowerToFly AI</dc:creator>
  <cp:lastModifiedBy>PowerToFly AI</cp:lastModifiedBy>
  <cp:revision>1</cp:revision>
  <dcterms:created xsi:type="dcterms:W3CDTF">2026-08-06T16:20:44Z</dcterms:created>
  <dcterms:modified xsi:type="dcterms:W3CDTF">2026-08-06T16:20:44Z</dcterms:modified>
</cp:coreProperties>
</file>